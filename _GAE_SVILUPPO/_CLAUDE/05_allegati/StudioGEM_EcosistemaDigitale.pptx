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7" roundtripDataSignature="AMtx7mitj/nLfp22LalqpFNb4VLbDsKie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customschemas.google.com/relationships/presentationmetadata" Target="metadata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Obiettivo: descrivere ai tecnici il percorso “da primo acquisto a tesseramento completo”, e come collegare sito, pagamenti, gestionale e CRM.</a:t>
            </a:r>
            <a:br>
              <a:rPr lang="en-US"/>
            </a:br>
            <a:br>
              <a:rPr lang="en-US"/>
            </a:br>
            <a:r>
              <a:rPr lang="en-US"/>
              <a:t>[Sources]</a:t>
            </a:r>
            <a:br>
              <a:rPr lang="en-US"/>
            </a:br>
            <a:r>
              <a:rPr lang="en-US"/>
              <a:t>- https://studio-gem.it/wp-content/uploads/2020/01/studio25-studio-gem-milano1.jpg (immagine sala)</a:t>
            </a:r>
            <a:br>
              <a:rPr lang="en-US"/>
            </a:br>
            <a:r>
              <a:rPr lang="en-US"/>
              <a:t>- https://studio-gem.it/wp-content/uploads/2019/11/cropped-logo-quadrato2.png (logo)</a:t>
            </a:r>
            <a:br>
              <a:rPr lang="en-US"/>
            </a:br>
            <a:r>
              <a:rPr lang="en-US"/>
              <a:t>[/Sources]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" name="Google Shape;2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[Sources]</a:t>
            </a:r>
            <a:br>
              <a:rPr lang="en-US"/>
            </a:br>
            <a:r>
              <a:rPr lang="en-US"/>
              <a:t>- https://studio-gem.it/wp-content/uploads/2019/11/cropped-logo-quadrato2.png (logo)</a:t>
            </a:r>
            <a:br>
              <a:rPr lang="en-US"/>
            </a:br>
            <a:r>
              <a:rPr lang="en-US"/>
              <a:t>[/Sources]</a:t>
            </a:r>
            <a:endParaRPr/>
          </a:p>
        </p:txBody>
      </p:sp>
      <p:sp>
        <p:nvSpPr>
          <p:cNvPr id="26" name="Google Shape;2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" name="Google Shape;4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Questi principi guidano sia la UX (ridurre frizione) sia l’architettura (coerenza dati tra sistemi).</a:t>
            </a:r>
            <a:br>
              <a:rPr lang="en-US"/>
            </a:br>
            <a:br>
              <a:rPr lang="en-US"/>
            </a:br>
            <a:r>
              <a:rPr lang="en-US"/>
              <a:t>[Sources]</a:t>
            </a:r>
            <a:br>
              <a:rPr lang="en-US"/>
            </a:br>
            <a:r>
              <a:rPr lang="en-US"/>
              <a:t>- https://studio-gem.it/wp-content/uploads/2019/11/cropped-logo-quadrato2.png (logo)</a:t>
            </a:r>
            <a:br>
              <a:rPr lang="en-US"/>
            </a:br>
            <a:r>
              <a:rPr lang="en-US"/>
              <a:t>[/Sources]</a:t>
            </a:r>
            <a:endParaRPr/>
          </a:p>
        </p:txBody>
      </p:sp>
      <p:sp>
        <p:nvSpPr>
          <p:cNvPr id="42" name="Google Shape;4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[Sources]</a:t>
            </a:r>
            <a:br>
              <a:rPr lang="en-US"/>
            </a:br>
            <a:r>
              <a:rPr lang="en-US"/>
              <a:t>- https://studio-gem.it/iscrizioni-corsi/ (link e contesto “Calendario corsi / acquisto”)</a:t>
            </a:r>
            <a:br>
              <a:rPr lang="en-US"/>
            </a:br>
            <a:r>
              <a:rPr lang="en-US"/>
              <a:t>- https://studio-gem.it/wp-content/uploads/2019/11/cropped-logo-quadrato2.png (logo)</a:t>
            </a:r>
            <a:br>
              <a:rPr lang="en-US"/>
            </a:br>
            <a:r>
              <a:rPr lang="en-US"/>
              <a:t>[/Sources]</a:t>
            </a:r>
            <a:endParaRPr/>
          </a:p>
        </p:txBody>
      </p:sp>
      <p:sp>
        <p:nvSpPr>
          <p:cNvPr id="71" name="Google Shape;7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[Sources]</a:t>
            </a:r>
            <a:br>
              <a:rPr lang="en-US"/>
            </a:br>
            <a:r>
              <a:rPr lang="en-US"/>
              <a:t>- https://studio-gem.it/wp-content/uploads/2019/11/cropped-logo-quadrato2.png (logo)</a:t>
            </a:r>
            <a:br>
              <a:rPr lang="en-US"/>
            </a:br>
            <a:r>
              <a:rPr lang="en-US"/>
              <a:t>[/Sources]</a:t>
            </a:r>
            <a:endParaRPr/>
          </a:p>
        </p:txBody>
      </p:sp>
      <p:sp>
        <p:nvSpPr>
          <p:cNvPr id="118" name="Google Shape;11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[Sources]</a:t>
            </a:r>
            <a:br>
              <a:rPr lang="en-US"/>
            </a:br>
            <a:r>
              <a:rPr lang="en-US"/>
              <a:t>- https://studio-gem.it/iscrizioni-corsi/ (requisiti tesseramento e certificato medico con ECG)</a:t>
            </a:r>
            <a:br>
              <a:rPr lang="en-US"/>
            </a:br>
            <a:r>
              <a:rPr lang="en-US"/>
              <a:t>- https://studio-gem.it/wp-content/uploads/2023/03/Corsi_1627_1-1024x651.jpg (immagine lezione di gruppo)</a:t>
            </a:r>
            <a:br>
              <a:rPr lang="en-US"/>
            </a:br>
            <a:r>
              <a:rPr lang="en-US"/>
              <a:t>- https://studio-gem.it/wp-content/uploads/2019/11/cropped-logo-quadrato2.png (logo)</a:t>
            </a:r>
            <a:br>
              <a:rPr lang="en-US"/>
            </a:br>
            <a:r>
              <a:rPr lang="en-US"/>
              <a:t>[/Sources]</a:t>
            </a:r>
            <a:endParaRPr/>
          </a:p>
        </p:txBody>
      </p:sp>
      <p:sp>
        <p:nvSpPr>
          <p:cNvPr id="150" name="Google Shape;15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[Sources]</a:t>
            </a:r>
            <a:br>
              <a:rPr lang="en-US"/>
            </a:br>
            <a:r>
              <a:rPr lang="en-US"/>
              <a:t>- https://studio-gem.it/wp-content/uploads/2019/11/cropped-logo-quadrato2.png (logo)</a:t>
            </a:r>
            <a:br>
              <a:rPr lang="en-US"/>
            </a:br>
            <a:r>
              <a:rPr lang="en-US"/>
              <a:t>[/Sources]</a:t>
            </a:r>
            <a:endParaRPr/>
          </a:p>
        </p:txBody>
      </p:sp>
      <p:sp>
        <p:nvSpPr>
          <p:cNvPr id="168" name="Google Shape;16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9" name="Google Shape;20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[Sources]</a:t>
            </a:r>
            <a:br>
              <a:rPr lang="en-US"/>
            </a:br>
            <a:r>
              <a:rPr lang="en-US"/>
              <a:t>- https://studio-gem.it/wp-content/uploads/2019/11/cropped-logo-quadrato2.png (logo)</a:t>
            </a:r>
            <a:br>
              <a:rPr lang="en-US"/>
            </a:br>
            <a:r>
              <a:rPr lang="en-US"/>
              <a:t>[/Sources]</a:t>
            </a:r>
            <a:endParaRPr/>
          </a:p>
        </p:txBody>
      </p:sp>
      <p:sp>
        <p:nvSpPr>
          <p:cNvPr id="210" name="Google Shape;21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2" name="Google Shape;24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[Sources]</a:t>
            </a:r>
            <a:br>
              <a:rPr lang="en-US"/>
            </a:br>
            <a:r>
              <a:rPr lang="en-US"/>
              <a:t>- https://studio-gem.it/wp-content/uploads/2019/11/cropped-logo-quadrato2.png (logo)</a:t>
            </a:r>
            <a:br>
              <a:rPr lang="en-US"/>
            </a:br>
            <a:r>
              <a:rPr lang="en-US"/>
              <a:t>[/Sources]</a:t>
            </a:r>
            <a:endParaRPr/>
          </a:p>
        </p:txBody>
      </p:sp>
      <p:sp>
        <p:nvSpPr>
          <p:cNvPr id="243" name="Google Shape;243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9" name="Google Shape;27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[Sources]</a:t>
            </a:r>
            <a:br>
              <a:rPr lang="en-US"/>
            </a:br>
            <a:r>
              <a:rPr lang="en-US"/>
              <a:t>- https://studio-gem.it/wp-content/uploads/2019/11/cropped-logo-quadrato2.png (logo)</a:t>
            </a:r>
            <a:br>
              <a:rPr lang="en-US"/>
            </a:br>
            <a:r>
              <a:rPr lang="en-US"/>
              <a:t>[/Sources]</a:t>
            </a:r>
            <a:endParaRPr/>
          </a:p>
        </p:txBody>
      </p:sp>
      <p:sp>
        <p:nvSpPr>
          <p:cNvPr id="280" name="Google Shape;280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6" name="Google Shape;31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[Sources]</a:t>
            </a:r>
            <a:br>
              <a:rPr lang="en-US"/>
            </a:br>
            <a:r>
              <a:rPr lang="en-US"/>
              <a:t>- https://studio-gem.it/wp-content/uploads/2019/11/cropped-logo-quadrato2.png (logo)</a:t>
            </a:r>
            <a:br>
              <a:rPr lang="en-US"/>
            </a:br>
            <a:r>
              <a:rPr lang="en-US"/>
              <a:t>[/Sources]</a:t>
            </a:r>
            <a:endParaRPr/>
          </a:p>
        </p:txBody>
      </p:sp>
      <p:sp>
        <p:nvSpPr>
          <p:cNvPr id="317" name="Google Shape;317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5" name="Google Shape;345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jpg"/><Relationship Id="rId4" Type="http://schemas.openxmlformats.org/officeDocument/2006/relationships/image" Target="../media/image1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Relationship Id="rId4" Type="http://schemas.openxmlformats.org/officeDocument/2006/relationships/image" Target="../media/image3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studio_gem_studio.jpg" id="16" name="Google Shape;16;p1"/>
          <p:cNvPicPr preferRelativeResize="0"/>
          <p:nvPr/>
        </p:nvPicPr>
        <p:blipFill rotWithShape="1">
          <a:blip r:embed="rId3">
            <a:alphaModFix/>
          </a:blip>
          <a:srcRect b="7793" l="0" r="0" t="7793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44705"/>
            </a:srgbClr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studio_gem_logo.png" id="18" name="Google Shape;18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0" y="411480"/>
            <a:ext cx="1143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1"/>
          <p:cNvSpPr/>
          <p:nvPr/>
        </p:nvSpPr>
        <p:spPr>
          <a:xfrm>
            <a:off x="502920" y="1874520"/>
            <a:ext cx="111556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Calibri"/>
              <a:buNone/>
            </a:pPr>
            <a:r>
              <a:rPr b="1" i="0" lang="en-US" sz="5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Ecosistema digitale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502920" y="2697480"/>
            <a:ext cx="11155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Flusso utente • Pagamenti • Area tesserati • Gestionale • CRM • Tessera Wallet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502920" y="6080760"/>
            <a:ext cx="3977640" cy="384048"/>
          </a:xfrm>
          <a:prstGeom prst="roundRect">
            <a:avLst>
              <a:gd fmla="val 16667" name="adj"/>
            </a:avLst>
          </a:prstGeom>
          <a:solidFill>
            <a:srgbClr val="C81D25"/>
          </a:solidFill>
          <a:ln cap="flat" cmpd="sng" w="12700">
            <a:solidFill>
              <a:srgbClr val="C81D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1"/>
          <p:cNvSpPr/>
          <p:nvPr/>
        </p:nvSpPr>
        <p:spPr>
          <a:xfrm>
            <a:off x="502920" y="6135624"/>
            <a:ext cx="39776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Studio GEM – Geos SSDRL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81D25"/>
          </a:solidFill>
          <a:ln cap="flat" cmpd="sng" w="12700">
            <a:solidFill>
              <a:srgbClr val="C81D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studio_gem_logo.png" id="29" name="Google Shape;29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164592"/>
            <a:ext cx="822960" cy="82296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2"/>
          <p:cNvSpPr/>
          <p:nvPr/>
        </p:nvSpPr>
        <p:spPr>
          <a:xfrm>
            <a:off x="1325880" y="201168"/>
            <a:ext cx="10698480" cy="685800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"/>
          <p:cNvSpPr/>
          <p:nvPr/>
        </p:nvSpPr>
        <p:spPr>
          <a:xfrm>
            <a:off x="1325880" y="256032"/>
            <a:ext cx="10607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Contesto &amp; obiettivo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685800" y="1143000"/>
            <a:ext cx="5623560" cy="54406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6E6E6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19050">
              <a:srgbClr val="000000">
                <a:alpha val="1764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2"/>
          <p:cNvSpPr/>
          <p:nvPr/>
        </p:nvSpPr>
        <p:spPr>
          <a:xfrm>
            <a:off x="960120" y="132588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Contesto Studio GEM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960120" y="1874520"/>
            <a:ext cx="5257800" cy="3108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700"/>
              <a:buFont typeface="Calibri"/>
              <a:buChar char="•"/>
            </a:pPr>
            <a:r>
              <a:rPr b="0" i="0" lang="en-US" sz="17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Società sportiva dilettantistica (SSDRL) – Milano, Porta Romana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700"/>
              <a:buFont typeface="Calibri"/>
              <a:buChar char="•"/>
            </a:pPr>
            <a:r>
              <a:rPr b="0" i="0" lang="en-US" sz="17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≈ 3000 tesserati/anno (in crescita)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700"/>
              <a:buFont typeface="Calibri"/>
              <a:buChar char="•"/>
            </a:pPr>
            <a:r>
              <a:rPr b="0" i="0" lang="en-US" sz="17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12 studios attrezzati (danza, ballo, fitness)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700"/>
              <a:buFont typeface="Calibri"/>
              <a:buChar char="•"/>
            </a:pPr>
            <a:r>
              <a:rPr b="0" i="0" lang="en-US" sz="17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Spinta su vendite online: corsi collettivi, PT, affitto sale, workshop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6537960" y="1143000"/>
            <a:ext cx="4983480" cy="5440680"/>
          </a:xfrm>
          <a:prstGeom prst="roundRect">
            <a:avLst>
              <a:gd fmla="val 16667" name="adj"/>
            </a:avLst>
          </a:prstGeom>
          <a:solidFill>
            <a:srgbClr val="F6F7F9"/>
          </a:solidFill>
          <a:ln cap="flat" cmpd="sng" w="12700">
            <a:solidFill>
              <a:srgbClr val="E6E6E6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19050">
              <a:srgbClr val="000000">
                <a:alpha val="1764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2"/>
          <p:cNvSpPr/>
          <p:nvPr/>
        </p:nvSpPr>
        <p:spPr>
          <a:xfrm>
            <a:off x="6812280" y="1325880"/>
            <a:ext cx="4480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Obiettivo per i tecnici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6812280" y="1874520"/>
            <a:ext cx="4572000" cy="4160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700"/>
              <a:buFont typeface="Calibri"/>
              <a:buChar char="•"/>
            </a:pPr>
            <a:r>
              <a:rPr b="0" i="0" lang="en-US" sz="17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Acquisto semplice (checkout “light”) → account creato automaticamente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700"/>
              <a:buFont typeface="Calibri"/>
              <a:buChar char="•"/>
            </a:pPr>
            <a:r>
              <a:rPr b="0" i="0" lang="en-US" sz="17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Area utente immediata con storico pagamenti e acquisti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700"/>
              <a:buFont typeface="Calibri"/>
              <a:buChar char="•"/>
            </a:pPr>
            <a:r>
              <a:rPr b="0" i="0" lang="en-US" sz="17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Tesseramento e documenti in area (no invio email manuale)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700"/>
              <a:buFont typeface="Calibri"/>
              <a:buChar char="•"/>
            </a:pPr>
            <a:r>
              <a:rPr b="0" i="0" lang="en-US" sz="17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Gestionale interno scalabile (database) + sincronizzazione in tempo reale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700"/>
              <a:buFont typeface="Calibri"/>
              <a:buChar char="•"/>
            </a:pPr>
            <a:r>
              <a:rPr b="0" i="0" lang="en-US" sz="17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Tracciamento CRM end-to-end (lead → cliente → tesserato)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685800" y="6492240"/>
            <a:ext cx="11155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Principio guida: un solo profilo utente + un solo identificativo, dal primo click al tesseramento completo.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81D25"/>
          </a:solidFill>
          <a:ln cap="flat" cmpd="sng" w="12700">
            <a:solidFill>
              <a:srgbClr val="C81D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studio_gem_logo.png" id="45" name="Google Shape;4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164592"/>
            <a:ext cx="822960" cy="822960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3"/>
          <p:cNvSpPr/>
          <p:nvPr/>
        </p:nvSpPr>
        <p:spPr>
          <a:xfrm>
            <a:off x="1325880" y="201168"/>
            <a:ext cx="10698480" cy="685800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3"/>
          <p:cNvSpPr/>
          <p:nvPr/>
        </p:nvSpPr>
        <p:spPr>
          <a:xfrm>
            <a:off x="1325880" y="256032"/>
            <a:ext cx="10607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Principi di progettazione (UX + dati)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3"/>
          <p:cNvSpPr/>
          <p:nvPr/>
        </p:nvSpPr>
        <p:spPr>
          <a:xfrm>
            <a:off x="685800" y="1234440"/>
            <a:ext cx="3703320" cy="1828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6E6E6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19050">
              <a:srgbClr val="000000">
                <a:alpha val="1764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3"/>
          <p:cNvSpPr/>
          <p:nvPr/>
        </p:nvSpPr>
        <p:spPr>
          <a:xfrm>
            <a:off x="685800" y="1234440"/>
            <a:ext cx="3703320" cy="109728"/>
          </a:xfrm>
          <a:prstGeom prst="rect">
            <a:avLst/>
          </a:prstGeom>
          <a:solidFill>
            <a:srgbClr val="C81D25"/>
          </a:solidFill>
          <a:ln cap="flat" cmpd="sng" w="12700">
            <a:solidFill>
              <a:srgbClr val="C81D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3"/>
          <p:cNvSpPr/>
          <p:nvPr/>
        </p:nvSpPr>
        <p:spPr>
          <a:xfrm>
            <a:off x="914400" y="1417320"/>
            <a:ext cx="3246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Compra prima, registra dopo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3"/>
          <p:cNvSpPr/>
          <p:nvPr/>
        </p:nvSpPr>
        <p:spPr>
          <a:xfrm>
            <a:off x="914400" y="1856232"/>
            <a:ext cx="32461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Checkout con dati minimi. Account creato in automatico, password via “imposta password” post-acquisto.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3"/>
          <p:cNvSpPr/>
          <p:nvPr/>
        </p:nvSpPr>
        <p:spPr>
          <a:xfrm>
            <a:off x="4617720" y="1234440"/>
            <a:ext cx="3703320" cy="1828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6E6E6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19050">
              <a:srgbClr val="000000">
                <a:alpha val="1764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3"/>
          <p:cNvSpPr/>
          <p:nvPr/>
        </p:nvSpPr>
        <p:spPr>
          <a:xfrm>
            <a:off x="4617720" y="1234440"/>
            <a:ext cx="3703320" cy="109728"/>
          </a:xfrm>
          <a:prstGeom prst="rect">
            <a:avLst/>
          </a:prstGeom>
          <a:solidFill>
            <a:srgbClr val="C81D25"/>
          </a:solidFill>
          <a:ln cap="flat" cmpd="sng" w="12700">
            <a:solidFill>
              <a:srgbClr val="C81D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3"/>
          <p:cNvSpPr/>
          <p:nvPr/>
        </p:nvSpPr>
        <p:spPr>
          <a:xfrm>
            <a:off x="4846320" y="1417320"/>
            <a:ext cx="3246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Single Source of Truth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4846320" y="1856232"/>
            <a:ext cx="32461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Un unico customer_id condiviso tra sito, gestionale, CRM, documenti e wallet.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8549640" y="1234440"/>
            <a:ext cx="3703320" cy="1828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6E6E6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19050">
              <a:srgbClr val="000000">
                <a:alpha val="1764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3"/>
          <p:cNvSpPr/>
          <p:nvPr/>
        </p:nvSpPr>
        <p:spPr>
          <a:xfrm>
            <a:off x="8549640" y="1234440"/>
            <a:ext cx="3703320" cy="109728"/>
          </a:xfrm>
          <a:prstGeom prst="rect">
            <a:avLst/>
          </a:prstGeom>
          <a:solidFill>
            <a:srgbClr val="C81D25"/>
          </a:solidFill>
          <a:ln cap="flat" cmpd="sng" w="12700">
            <a:solidFill>
              <a:srgbClr val="C81D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3"/>
          <p:cNvSpPr/>
          <p:nvPr/>
        </p:nvSpPr>
        <p:spPr>
          <a:xfrm>
            <a:off x="8778240" y="1417320"/>
            <a:ext cx="3246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Event-driven sync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8778240" y="1856232"/>
            <a:ext cx="32461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Eventi (es. OrderPaid) generano aggiornamenti coerenti e idempotenti su tutti i sistemi.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685800" y="3383280"/>
            <a:ext cx="3703320" cy="1828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6E6E6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19050">
              <a:srgbClr val="000000">
                <a:alpha val="1764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3"/>
          <p:cNvSpPr/>
          <p:nvPr/>
        </p:nvSpPr>
        <p:spPr>
          <a:xfrm>
            <a:off x="685800" y="3383280"/>
            <a:ext cx="3703320" cy="109728"/>
          </a:xfrm>
          <a:prstGeom prst="rect">
            <a:avLst/>
          </a:prstGeom>
          <a:solidFill>
            <a:srgbClr val="C81D25"/>
          </a:solidFill>
          <a:ln cap="flat" cmpd="sng" w="12700">
            <a:solidFill>
              <a:srgbClr val="C81D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3"/>
          <p:cNvSpPr/>
          <p:nvPr/>
        </p:nvSpPr>
        <p:spPr>
          <a:xfrm>
            <a:off x="914400" y="3566160"/>
            <a:ext cx="3246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Compliance incorporata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914400" y="4005072"/>
            <a:ext cx="32461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Stato tesseramento + checklist documenti. Accesso ai corsi legato a certificati e firma moduli.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4617720" y="3383280"/>
            <a:ext cx="3703320" cy="1828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6E6E6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19050">
              <a:srgbClr val="000000">
                <a:alpha val="1764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3"/>
          <p:cNvSpPr/>
          <p:nvPr/>
        </p:nvSpPr>
        <p:spPr>
          <a:xfrm>
            <a:off x="4617720" y="3383280"/>
            <a:ext cx="3703320" cy="109728"/>
          </a:xfrm>
          <a:prstGeom prst="rect">
            <a:avLst/>
          </a:prstGeom>
          <a:solidFill>
            <a:srgbClr val="C81D25"/>
          </a:solidFill>
          <a:ln cap="flat" cmpd="sng" w="12700">
            <a:solidFill>
              <a:srgbClr val="C81D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3"/>
          <p:cNvSpPr/>
          <p:nvPr/>
        </p:nvSpPr>
        <p:spPr>
          <a:xfrm>
            <a:off x="4846320" y="3566160"/>
            <a:ext cx="3246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Omnicanale (online + sede)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4846320" y="4005072"/>
            <a:ext cx="32461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Totem/tablet e staff usano lo stesso flusso online: niente percorsi “paralleli”.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81D25"/>
          </a:solidFill>
          <a:ln cap="flat" cmpd="sng" w="12700">
            <a:solidFill>
              <a:srgbClr val="C81D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studio_gem_logo.png" id="74" name="Google Shape;7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164592"/>
            <a:ext cx="822960" cy="82296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4"/>
          <p:cNvSpPr/>
          <p:nvPr/>
        </p:nvSpPr>
        <p:spPr>
          <a:xfrm>
            <a:off x="1325880" y="201168"/>
            <a:ext cx="10698480" cy="685800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4"/>
          <p:cNvSpPr/>
          <p:nvPr/>
        </p:nvSpPr>
        <p:spPr>
          <a:xfrm>
            <a:off x="1325880" y="256032"/>
            <a:ext cx="10607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User journey – prima visita (online)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822960" y="1325880"/>
            <a:ext cx="10881360" cy="53949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6E6E6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19050">
              <a:srgbClr val="000000">
                <a:alpha val="1764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4"/>
          <p:cNvSpPr/>
          <p:nvPr/>
        </p:nvSpPr>
        <p:spPr>
          <a:xfrm>
            <a:off x="1143000" y="1691640"/>
            <a:ext cx="3401568" cy="12984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6E6E6"/>
            </a:solidFill>
            <a:prstDash val="solid"/>
            <a:round/>
            <a:headEnd len="sm" w="sm" type="none"/>
            <a:tailEnd len="sm" w="sm" type="none"/>
          </a:ln>
          <a:effectLst>
            <a:outerShdw blurRad="31750" rotWithShape="0" algn="bl" dir="2700000" dist="15240">
              <a:srgbClr val="000000">
                <a:alpha val="11764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4"/>
          <p:cNvSpPr/>
          <p:nvPr/>
        </p:nvSpPr>
        <p:spPr>
          <a:xfrm>
            <a:off x="1307592" y="1874520"/>
            <a:ext cx="411480" cy="411480"/>
          </a:xfrm>
          <a:prstGeom prst="ellipse">
            <a:avLst/>
          </a:prstGeom>
          <a:solidFill>
            <a:srgbClr val="C81D25"/>
          </a:solidFill>
          <a:ln cap="flat" cmpd="sng" w="12700">
            <a:solidFill>
              <a:srgbClr val="C81D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4"/>
          <p:cNvSpPr/>
          <p:nvPr/>
        </p:nvSpPr>
        <p:spPr>
          <a:xfrm>
            <a:off x="1307592" y="187452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1828800" y="1856232"/>
            <a:ext cx="253288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Calendario corsi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1828800" y="2167128"/>
            <a:ext cx="2532888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L’utente esplora il calendario e filtra per attività.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4837176" y="1691640"/>
            <a:ext cx="3401568" cy="12984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6E6E6"/>
            </a:solidFill>
            <a:prstDash val="solid"/>
            <a:round/>
            <a:headEnd len="sm" w="sm" type="none"/>
            <a:tailEnd len="sm" w="sm" type="none"/>
          </a:ln>
          <a:effectLst>
            <a:outerShdw blurRad="31750" rotWithShape="0" algn="bl" dir="2700000" dist="15240">
              <a:srgbClr val="000000">
                <a:alpha val="11764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4"/>
          <p:cNvSpPr/>
          <p:nvPr/>
        </p:nvSpPr>
        <p:spPr>
          <a:xfrm>
            <a:off x="5001768" y="1874520"/>
            <a:ext cx="411480" cy="411480"/>
          </a:xfrm>
          <a:prstGeom prst="ellipse">
            <a:avLst/>
          </a:prstGeom>
          <a:solidFill>
            <a:srgbClr val="C81D25"/>
          </a:solidFill>
          <a:ln cap="flat" cmpd="sng" w="12700">
            <a:solidFill>
              <a:srgbClr val="C81D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4"/>
          <p:cNvSpPr/>
          <p:nvPr/>
        </p:nvSpPr>
        <p:spPr>
          <a:xfrm>
            <a:off x="5001768" y="187452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5522976" y="1856232"/>
            <a:ext cx="253288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Seleziona 1+ corsi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5522976" y="2167128"/>
            <a:ext cx="2532888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Scelta corsi / PT / workshop / affitto sale.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8531352" y="1691640"/>
            <a:ext cx="3401568" cy="12984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6E6E6"/>
            </a:solidFill>
            <a:prstDash val="solid"/>
            <a:round/>
            <a:headEnd len="sm" w="sm" type="none"/>
            <a:tailEnd len="sm" w="sm" type="none"/>
          </a:ln>
          <a:effectLst>
            <a:outerShdw blurRad="31750" rotWithShape="0" algn="bl" dir="2700000" dist="15240">
              <a:srgbClr val="000000">
                <a:alpha val="11764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4"/>
          <p:cNvSpPr/>
          <p:nvPr/>
        </p:nvSpPr>
        <p:spPr>
          <a:xfrm>
            <a:off x="8695944" y="1874520"/>
            <a:ext cx="411480" cy="411480"/>
          </a:xfrm>
          <a:prstGeom prst="ellipse">
            <a:avLst/>
          </a:prstGeom>
          <a:solidFill>
            <a:srgbClr val="C81D25"/>
          </a:solidFill>
          <a:ln cap="flat" cmpd="sng" w="12700">
            <a:solidFill>
              <a:srgbClr val="C81D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4"/>
          <p:cNvSpPr/>
          <p:nvPr/>
        </p:nvSpPr>
        <p:spPr>
          <a:xfrm>
            <a:off x="8695944" y="187452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9217152" y="1856232"/>
            <a:ext cx="253288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Carrello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9217152" y="2167128"/>
            <a:ext cx="2532888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Riepilogo e modifica quantità / date.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1143000" y="3300984"/>
            <a:ext cx="3401568" cy="12984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6E6E6"/>
            </a:solidFill>
            <a:prstDash val="solid"/>
            <a:round/>
            <a:headEnd len="sm" w="sm" type="none"/>
            <a:tailEnd len="sm" w="sm" type="none"/>
          </a:ln>
          <a:effectLst>
            <a:outerShdw blurRad="31750" rotWithShape="0" algn="bl" dir="2700000" dist="15240">
              <a:srgbClr val="000000">
                <a:alpha val="11764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4"/>
          <p:cNvSpPr/>
          <p:nvPr/>
        </p:nvSpPr>
        <p:spPr>
          <a:xfrm>
            <a:off x="1307592" y="3483864"/>
            <a:ext cx="411480" cy="411480"/>
          </a:xfrm>
          <a:prstGeom prst="ellipse">
            <a:avLst/>
          </a:prstGeom>
          <a:solidFill>
            <a:srgbClr val="C81D25"/>
          </a:solidFill>
          <a:ln cap="flat" cmpd="sng" w="12700">
            <a:solidFill>
              <a:srgbClr val="C81D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4"/>
          <p:cNvSpPr/>
          <p:nvPr/>
        </p:nvSpPr>
        <p:spPr>
          <a:xfrm>
            <a:off x="1307592" y="3483864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1828800" y="3465576"/>
            <a:ext cx="253288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Checkout “light”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1828800" y="3776472"/>
            <a:ext cx="2532888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Nome, Cognome, CF, Email, Telefono.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4837176" y="3300984"/>
            <a:ext cx="3401568" cy="12984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6E6E6"/>
            </a:solidFill>
            <a:prstDash val="solid"/>
            <a:round/>
            <a:headEnd len="sm" w="sm" type="none"/>
            <a:tailEnd len="sm" w="sm" type="none"/>
          </a:ln>
          <a:effectLst>
            <a:outerShdw blurRad="31750" rotWithShape="0" algn="bl" dir="2700000" dist="15240">
              <a:srgbClr val="000000">
                <a:alpha val="11764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4"/>
          <p:cNvSpPr/>
          <p:nvPr/>
        </p:nvSpPr>
        <p:spPr>
          <a:xfrm>
            <a:off x="5001768" y="3483864"/>
            <a:ext cx="411480" cy="411480"/>
          </a:xfrm>
          <a:prstGeom prst="ellipse">
            <a:avLst/>
          </a:prstGeom>
          <a:solidFill>
            <a:srgbClr val="C81D25"/>
          </a:solidFill>
          <a:ln cap="flat" cmpd="sng" w="12700">
            <a:solidFill>
              <a:srgbClr val="C81D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"/>
          <p:cNvSpPr/>
          <p:nvPr/>
        </p:nvSpPr>
        <p:spPr>
          <a:xfrm>
            <a:off x="5001768" y="3483864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5522976" y="3465576"/>
            <a:ext cx="253288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Pagamento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5522976" y="3776472"/>
            <a:ext cx="2532888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Online + bonifico istantaneo / contanti (in sede).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8531352" y="3300984"/>
            <a:ext cx="3401568" cy="12984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6E6E6"/>
            </a:solidFill>
            <a:prstDash val="solid"/>
            <a:round/>
            <a:headEnd len="sm" w="sm" type="none"/>
            <a:tailEnd len="sm" w="sm" type="none"/>
          </a:ln>
          <a:effectLst>
            <a:outerShdw blurRad="31750" rotWithShape="0" algn="bl" dir="2700000" dist="15240">
              <a:srgbClr val="000000">
                <a:alpha val="11764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4"/>
          <p:cNvSpPr/>
          <p:nvPr/>
        </p:nvSpPr>
        <p:spPr>
          <a:xfrm>
            <a:off x="8695944" y="3483864"/>
            <a:ext cx="411480" cy="411480"/>
          </a:xfrm>
          <a:prstGeom prst="ellipse">
            <a:avLst/>
          </a:prstGeom>
          <a:solidFill>
            <a:srgbClr val="C81D25"/>
          </a:solidFill>
          <a:ln cap="flat" cmpd="sng" w="12700">
            <a:solidFill>
              <a:srgbClr val="C81D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"/>
          <p:cNvSpPr/>
          <p:nvPr/>
        </p:nvSpPr>
        <p:spPr>
          <a:xfrm>
            <a:off x="8695944" y="3483864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9217152" y="3465576"/>
            <a:ext cx="253288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Email “imposta password”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9217152" y="3776472"/>
            <a:ext cx="2532888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Link per creare la password dell’account.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1143000" y="4910328"/>
            <a:ext cx="3401568" cy="12984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6E6E6"/>
            </a:solidFill>
            <a:prstDash val="solid"/>
            <a:round/>
            <a:headEnd len="sm" w="sm" type="none"/>
            <a:tailEnd len="sm" w="sm" type="none"/>
          </a:ln>
          <a:effectLst>
            <a:outerShdw blurRad="31750" rotWithShape="0" algn="bl" dir="2700000" dist="15240">
              <a:srgbClr val="000000">
                <a:alpha val="11764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4"/>
          <p:cNvSpPr/>
          <p:nvPr/>
        </p:nvSpPr>
        <p:spPr>
          <a:xfrm>
            <a:off x="1307592" y="5093208"/>
            <a:ext cx="411480" cy="411480"/>
          </a:xfrm>
          <a:prstGeom prst="ellipse">
            <a:avLst/>
          </a:prstGeom>
          <a:solidFill>
            <a:srgbClr val="C81D25"/>
          </a:solidFill>
          <a:ln cap="flat" cmpd="sng" w="12700">
            <a:solidFill>
              <a:srgbClr val="C81D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4"/>
          <p:cNvSpPr/>
          <p:nvPr/>
        </p:nvSpPr>
        <p:spPr>
          <a:xfrm>
            <a:off x="1307592" y="5093208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1828800" y="5074920"/>
            <a:ext cx="253288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Area personale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1828800" y="5385816"/>
            <a:ext cx="2532888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Storico pagamenti + acquisti, stato tesseramento.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1143000" y="6355080"/>
            <a:ext cx="10561320" cy="502920"/>
          </a:xfrm>
          <a:prstGeom prst="roundRect">
            <a:avLst>
              <a:gd fmla="val 16667" name="adj"/>
            </a:avLst>
          </a:prstGeom>
          <a:solidFill>
            <a:srgbClr val="C81D25">
              <a:alpha val="89803"/>
            </a:srgbClr>
          </a:solidFill>
          <a:ln cap="flat" cmpd="sng" w="12700">
            <a:solidFill>
              <a:srgbClr val="C81D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4"/>
          <p:cNvSpPr/>
          <p:nvPr/>
        </p:nvSpPr>
        <p:spPr>
          <a:xfrm>
            <a:off x="1325880" y="6428232"/>
            <a:ext cx="10195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Punto chiave: al “Pagamento” (step 5) si crea subito il profilo utente + Area personale, anche se il tesseramento verrà completato dopo.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81D25"/>
          </a:solidFill>
          <a:ln cap="flat" cmpd="sng" w="12700">
            <a:solidFill>
              <a:srgbClr val="C81D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studio_gem_logo.png" id="121" name="Google Shape;12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164592"/>
            <a:ext cx="822960" cy="82296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5"/>
          <p:cNvSpPr/>
          <p:nvPr/>
        </p:nvSpPr>
        <p:spPr>
          <a:xfrm>
            <a:off x="1325880" y="201168"/>
            <a:ext cx="10698480" cy="685800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5"/>
          <p:cNvSpPr/>
          <p:nvPr/>
        </p:nvSpPr>
        <p:spPr>
          <a:xfrm>
            <a:off x="1325880" y="256032"/>
            <a:ext cx="10607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Area personale – cosa deve vedere Maria Rossi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685800" y="1143000"/>
            <a:ext cx="5349240" cy="5486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6E6E6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19050">
              <a:srgbClr val="000000">
                <a:alpha val="1764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5"/>
          <p:cNvSpPr/>
          <p:nvPr/>
        </p:nvSpPr>
        <p:spPr>
          <a:xfrm>
            <a:off x="960120" y="132588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Obiettivo UX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960120" y="1783080"/>
            <a:ext cx="5029200" cy="4480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Area creata automaticamente dopo il pagamento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Accesso tramite email + “imposta password”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Storico pagamenti e acquisti sempre visibile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Checklist tesseramento con stato (OK / mancante)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Upload documenti (certificato medico, moduli firmati)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Tessera digitale immediata (Wallet) + punti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6309360" y="1143000"/>
            <a:ext cx="5212080" cy="5486400"/>
          </a:xfrm>
          <a:prstGeom prst="roundRect">
            <a:avLst>
              <a:gd fmla="val 16667" name="adj"/>
            </a:avLst>
          </a:prstGeom>
          <a:solidFill>
            <a:srgbClr val="F6F7F9"/>
          </a:solidFill>
          <a:ln cap="flat" cmpd="sng" w="12700">
            <a:solidFill>
              <a:srgbClr val="E6E6E6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19050">
              <a:srgbClr val="000000">
                <a:alpha val="1764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5"/>
          <p:cNvSpPr/>
          <p:nvPr/>
        </p:nvSpPr>
        <p:spPr>
          <a:xfrm>
            <a:off x="6537960" y="1371600"/>
            <a:ext cx="4754880" cy="502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6E6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5"/>
          <p:cNvSpPr/>
          <p:nvPr/>
        </p:nvSpPr>
        <p:spPr>
          <a:xfrm>
            <a:off x="6720840" y="148132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Ciao, Maria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9646920" y="1453896"/>
            <a:ext cx="1508760" cy="310896"/>
          </a:xfrm>
          <a:prstGeom prst="roundRect">
            <a:avLst>
              <a:gd fmla="val 16667" name="adj"/>
            </a:avLst>
          </a:prstGeom>
          <a:solidFill>
            <a:srgbClr val="C81D25"/>
          </a:solidFill>
          <a:ln cap="flat" cmpd="sng" w="12700">
            <a:solidFill>
              <a:srgbClr val="C81D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5"/>
          <p:cNvSpPr/>
          <p:nvPr/>
        </p:nvSpPr>
        <p:spPr>
          <a:xfrm>
            <a:off x="9646920" y="1508760"/>
            <a:ext cx="15087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Tessera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6537960" y="2057400"/>
            <a:ext cx="4754880" cy="7772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6E6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5"/>
          <p:cNvSpPr/>
          <p:nvPr/>
        </p:nvSpPr>
        <p:spPr>
          <a:xfrm>
            <a:off x="6720840" y="214884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Pagamenti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6720840" y="2441448"/>
            <a:ext cx="4526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Ordini, ricevute, stato pagamenti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5"/>
          <p:cNvSpPr/>
          <p:nvPr/>
        </p:nvSpPr>
        <p:spPr>
          <a:xfrm>
            <a:off x="6537960" y="2990088"/>
            <a:ext cx="4754880" cy="7772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6E6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5"/>
          <p:cNvSpPr/>
          <p:nvPr/>
        </p:nvSpPr>
        <p:spPr>
          <a:xfrm>
            <a:off x="6720840" y="3081528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Corsi acquistati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5"/>
          <p:cNvSpPr/>
          <p:nvPr/>
        </p:nvSpPr>
        <p:spPr>
          <a:xfrm>
            <a:off x="6720840" y="3374136"/>
            <a:ext cx="4526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Corsi attivi, workshop, PT, affitti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6537960" y="3922776"/>
            <a:ext cx="4754880" cy="7772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6E6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5"/>
          <p:cNvSpPr/>
          <p:nvPr/>
        </p:nvSpPr>
        <p:spPr>
          <a:xfrm>
            <a:off x="6720840" y="4014216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Tesseramento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5"/>
          <p:cNvSpPr/>
          <p:nvPr/>
        </p:nvSpPr>
        <p:spPr>
          <a:xfrm>
            <a:off x="6720840" y="4306824"/>
            <a:ext cx="4526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Checklist + stato domanda + quota annuale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6537960" y="4855464"/>
            <a:ext cx="4754880" cy="7772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6E6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5"/>
          <p:cNvSpPr/>
          <p:nvPr/>
        </p:nvSpPr>
        <p:spPr>
          <a:xfrm>
            <a:off x="6720840" y="4946904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Documenti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5"/>
          <p:cNvSpPr/>
          <p:nvPr/>
        </p:nvSpPr>
        <p:spPr>
          <a:xfrm>
            <a:off x="6720840" y="5239512"/>
            <a:ext cx="4526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Upload certificato medico ECG + moduli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6537960" y="5788152"/>
            <a:ext cx="4754880" cy="7772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6E6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5"/>
          <p:cNvSpPr/>
          <p:nvPr/>
        </p:nvSpPr>
        <p:spPr>
          <a:xfrm>
            <a:off x="6720840" y="5879592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Comunicazioni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6720840" y="6172200"/>
            <a:ext cx="4526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Notifiche e scadenze (email/SMS/WA)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81D25"/>
          </a:solidFill>
          <a:ln cap="flat" cmpd="sng" w="12700">
            <a:solidFill>
              <a:srgbClr val="C81D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studio_gem_logo.png" id="153" name="Google Shape;15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164592"/>
            <a:ext cx="822960" cy="82296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6"/>
          <p:cNvSpPr/>
          <p:nvPr/>
        </p:nvSpPr>
        <p:spPr>
          <a:xfrm>
            <a:off x="1325880" y="201168"/>
            <a:ext cx="10698480" cy="685800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6"/>
          <p:cNvSpPr/>
          <p:nvPr/>
        </p:nvSpPr>
        <p:spPr>
          <a:xfrm>
            <a:off x="1325880" y="256032"/>
            <a:ext cx="10607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Tesseramento: requisiti, documenti, regole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mnt/data/studio_gem_class.jpg" id="156" name="Google Shape;156;p6"/>
          <p:cNvPicPr preferRelativeResize="0"/>
          <p:nvPr/>
        </p:nvPicPr>
        <p:blipFill rotWithShape="1">
          <a:blip r:embed="rId4">
            <a:alphaModFix/>
          </a:blip>
          <a:srcRect b="0" l="20597" r="20596" t="0"/>
          <a:stretch/>
        </p:blipFill>
        <p:spPr>
          <a:xfrm>
            <a:off x="6446520" y="1143000"/>
            <a:ext cx="5074920" cy="5486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6"/>
          <p:cNvSpPr/>
          <p:nvPr/>
        </p:nvSpPr>
        <p:spPr>
          <a:xfrm>
            <a:off x="6446520" y="1143000"/>
            <a:ext cx="5074920" cy="5486400"/>
          </a:xfrm>
          <a:prstGeom prst="rect">
            <a:avLst/>
          </a:prstGeom>
          <a:solidFill>
            <a:srgbClr val="000000">
              <a:alpha val="44705"/>
            </a:srgbClr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6"/>
          <p:cNvSpPr/>
          <p:nvPr/>
        </p:nvSpPr>
        <p:spPr>
          <a:xfrm>
            <a:off x="6720840" y="1417320"/>
            <a:ext cx="4572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Obiettivo: tutto in area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utente (self-service)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685800" y="1143000"/>
            <a:ext cx="5486400" cy="5486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6E6E6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19050">
              <a:srgbClr val="000000">
                <a:alpha val="1764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6"/>
          <p:cNvSpPr/>
          <p:nvPr/>
        </p:nvSpPr>
        <p:spPr>
          <a:xfrm>
            <a:off x="960120" y="1325880"/>
            <a:ext cx="4983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Checklist tesseramento (target)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960120" y="1828800"/>
            <a:ext cx="5120640" cy="29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Domanda di tesseramento (adulti / under18)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Privacy + liberatoria immagine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Quota tesseramento annuale (€25 – validità annuale)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Certificato medico valido con ECG (fac-simile)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Accettazione regolamento interno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Condizioni vendita workshop/eventi + safeguarding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6"/>
          <p:cNvSpPr/>
          <p:nvPr/>
        </p:nvSpPr>
        <p:spPr>
          <a:xfrm>
            <a:off x="960120" y="5074920"/>
            <a:ext cx="5120640" cy="1371600"/>
          </a:xfrm>
          <a:prstGeom prst="roundRect">
            <a:avLst>
              <a:gd fmla="val 16667" name="adj"/>
            </a:avLst>
          </a:prstGeom>
          <a:solidFill>
            <a:srgbClr val="F6F7F9"/>
          </a:solidFill>
          <a:ln cap="flat" cmpd="sng" w="12700">
            <a:solidFill>
              <a:srgbClr val="E6E6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6"/>
          <p:cNvSpPr/>
          <p:nvPr/>
        </p:nvSpPr>
        <p:spPr>
          <a:xfrm>
            <a:off x="1143000" y="5193792"/>
            <a:ext cx="4800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Nota tecnica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1143000" y="5468112"/>
            <a:ext cx="48006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Oggi i documenti vengono inviati via email. Target: upload in area + stato automatico + storico e scadenze.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7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81D25"/>
          </a:solidFill>
          <a:ln cap="flat" cmpd="sng" w="12700">
            <a:solidFill>
              <a:srgbClr val="C81D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studio_gem_logo.png" id="171" name="Google Shape;17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164592"/>
            <a:ext cx="822960" cy="82296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7"/>
          <p:cNvSpPr/>
          <p:nvPr/>
        </p:nvSpPr>
        <p:spPr>
          <a:xfrm>
            <a:off x="1325880" y="201168"/>
            <a:ext cx="10698480" cy="685800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7"/>
          <p:cNvSpPr/>
          <p:nvPr/>
        </p:nvSpPr>
        <p:spPr>
          <a:xfrm>
            <a:off x="1325880" y="256032"/>
            <a:ext cx="10607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Notifiche automatiche (fino a tesseramento completo)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7"/>
          <p:cNvSpPr/>
          <p:nvPr/>
        </p:nvSpPr>
        <p:spPr>
          <a:xfrm>
            <a:off x="685800" y="1143000"/>
            <a:ext cx="6400800" cy="5486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6E6E6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19050">
              <a:srgbClr val="000000">
                <a:alpha val="1764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7"/>
          <p:cNvSpPr/>
          <p:nvPr/>
        </p:nvSpPr>
        <p:spPr>
          <a:xfrm>
            <a:off x="960120" y="1325880"/>
            <a:ext cx="5852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Stati principali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7"/>
          <p:cNvSpPr/>
          <p:nvPr/>
        </p:nvSpPr>
        <p:spPr>
          <a:xfrm>
            <a:off x="1005840" y="1920240"/>
            <a:ext cx="2834640" cy="594360"/>
          </a:xfrm>
          <a:prstGeom prst="roundRect">
            <a:avLst>
              <a:gd fmla="val 16667" name="adj"/>
            </a:avLst>
          </a:prstGeom>
          <a:solidFill>
            <a:srgbClr val="C81D25"/>
          </a:solidFill>
          <a:ln cap="flat" cmpd="sng" w="12700">
            <a:solidFill>
              <a:srgbClr val="C81D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7"/>
          <p:cNvSpPr/>
          <p:nvPr/>
        </p:nvSpPr>
        <p:spPr>
          <a:xfrm>
            <a:off x="1005840" y="1993392"/>
            <a:ext cx="28346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Acquisto completato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7"/>
          <p:cNvSpPr/>
          <p:nvPr/>
        </p:nvSpPr>
        <p:spPr>
          <a:xfrm>
            <a:off x="4023360" y="1920240"/>
            <a:ext cx="2834640" cy="5943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7"/>
          <p:cNvSpPr/>
          <p:nvPr/>
        </p:nvSpPr>
        <p:spPr>
          <a:xfrm>
            <a:off x="4023360" y="1993392"/>
            <a:ext cx="28346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Account attivato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7"/>
          <p:cNvSpPr/>
          <p:nvPr/>
        </p:nvSpPr>
        <p:spPr>
          <a:xfrm>
            <a:off x="1005840" y="2880360"/>
            <a:ext cx="2834640" cy="5943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7"/>
          <p:cNvSpPr/>
          <p:nvPr/>
        </p:nvSpPr>
        <p:spPr>
          <a:xfrm>
            <a:off x="1005840" y="2953512"/>
            <a:ext cx="28346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Domanda compilata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7"/>
          <p:cNvSpPr/>
          <p:nvPr/>
        </p:nvSpPr>
        <p:spPr>
          <a:xfrm>
            <a:off x="4023360" y="2880360"/>
            <a:ext cx="2834640" cy="5943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7"/>
          <p:cNvSpPr/>
          <p:nvPr/>
        </p:nvSpPr>
        <p:spPr>
          <a:xfrm>
            <a:off x="4023360" y="2953512"/>
            <a:ext cx="28346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Documenti caricati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7"/>
          <p:cNvSpPr/>
          <p:nvPr/>
        </p:nvSpPr>
        <p:spPr>
          <a:xfrm>
            <a:off x="1005840" y="3840480"/>
            <a:ext cx="2834640" cy="5943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7"/>
          <p:cNvSpPr/>
          <p:nvPr/>
        </p:nvSpPr>
        <p:spPr>
          <a:xfrm>
            <a:off x="1005840" y="3913632"/>
            <a:ext cx="28346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Verifica OK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7"/>
          <p:cNvSpPr/>
          <p:nvPr/>
        </p:nvSpPr>
        <p:spPr>
          <a:xfrm>
            <a:off x="4023360" y="3840480"/>
            <a:ext cx="2834640" cy="5943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7"/>
          <p:cNvSpPr/>
          <p:nvPr/>
        </p:nvSpPr>
        <p:spPr>
          <a:xfrm>
            <a:off x="4023360" y="3913632"/>
            <a:ext cx="28346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Tesseramento completato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8" name="Google Shape;188;p7"/>
          <p:cNvCxnSpPr/>
          <p:nvPr/>
        </p:nvCxnSpPr>
        <p:spPr>
          <a:xfrm>
            <a:off x="2514600" y="2212848"/>
            <a:ext cx="1463040" cy="0"/>
          </a:xfrm>
          <a:prstGeom prst="straightConnector1">
            <a:avLst/>
          </a:prstGeom>
          <a:noFill/>
          <a:ln cap="flat" cmpd="sng" w="25400">
            <a:solidFill>
              <a:srgbClr val="C81D2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89" name="Google Shape;189;p7"/>
          <p:cNvCxnSpPr/>
          <p:nvPr/>
        </p:nvCxnSpPr>
        <p:spPr>
          <a:xfrm flipH="1">
            <a:off x="2514600" y="2212848"/>
            <a:ext cx="2926080" cy="960120"/>
          </a:xfrm>
          <a:prstGeom prst="straightConnector1">
            <a:avLst/>
          </a:prstGeom>
          <a:noFill/>
          <a:ln cap="flat" cmpd="sng" w="25400">
            <a:solidFill>
              <a:srgbClr val="C81D2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90" name="Google Shape;190;p7"/>
          <p:cNvCxnSpPr/>
          <p:nvPr/>
        </p:nvCxnSpPr>
        <p:spPr>
          <a:xfrm>
            <a:off x="2514600" y="3172968"/>
            <a:ext cx="1463040" cy="0"/>
          </a:xfrm>
          <a:prstGeom prst="straightConnector1">
            <a:avLst/>
          </a:prstGeom>
          <a:noFill/>
          <a:ln cap="flat" cmpd="sng" w="25400">
            <a:solidFill>
              <a:srgbClr val="C81D2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91" name="Google Shape;191;p7"/>
          <p:cNvCxnSpPr/>
          <p:nvPr/>
        </p:nvCxnSpPr>
        <p:spPr>
          <a:xfrm flipH="1">
            <a:off x="2514600" y="3172968"/>
            <a:ext cx="2926080" cy="960120"/>
          </a:xfrm>
          <a:prstGeom prst="straightConnector1">
            <a:avLst/>
          </a:prstGeom>
          <a:noFill/>
          <a:ln cap="flat" cmpd="sng" w="25400">
            <a:solidFill>
              <a:srgbClr val="C81D2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92" name="Google Shape;192;p7"/>
          <p:cNvCxnSpPr/>
          <p:nvPr/>
        </p:nvCxnSpPr>
        <p:spPr>
          <a:xfrm>
            <a:off x="2514600" y="4133088"/>
            <a:ext cx="1463040" cy="0"/>
          </a:xfrm>
          <a:prstGeom prst="straightConnector1">
            <a:avLst/>
          </a:prstGeom>
          <a:noFill/>
          <a:ln cap="flat" cmpd="sng" w="25400">
            <a:solidFill>
              <a:srgbClr val="C81D2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93" name="Google Shape;193;p7"/>
          <p:cNvCxnSpPr/>
          <p:nvPr/>
        </p:nvCxnSpPr>
        <p:spPr>
          <a:xfrm flipH="1">
            <a:off x="3977640" y="4133088"/>
            <a:ext cx="1463040" cy="960120"/>
          </a:xfrm>
          <a:prstGeom prst="straightConnector1">
            <a:avLst/>
          </a:prstGeom>
          <a:noFill/>
          <a:ln cap="flat" cmpd="sng" w="25400">
            <a:solidFill>
              <a:srgbClr val="C81D2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94" name="Google Shape;194;p7"/>
          <p:cNvSpPr/>
          <p:nvPr/>
        </p:nvSpPr>
        <p:spPr>
          <a:xfrm>
            <a:off x="960120" y="5349240"/>
            <a:ext cx="6035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Le notifiche vengono inviate fino al completamento (es. certificato medico mancante / in scadenza).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7"/>
          <p:cNvSpPr/>
          <p:nvPr/>
        </p:nvSpPr>
        <p:spPr>
          <a:xfrm>
            <a:off x="7360920" y="1143000"/>
            <a:ext cx="4160520" cy="5486400"/>
          </a:xfrm>
          <a:prstGeom prst="roundRect">
            <a:avLst>
              <a:gd fmla="val 16667" name="adj"/>
            </a:avLst>
          </a:prstGeom>
          <a:solidFill>
            <a:srgbClr val="F6F7F9"/>
          </a:solidFill>
          <a:ln cap="flat" cmpd="sng" w="12700">
            <a:solidFill>
              <a:srgbClr val="E6E6E6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19050">
              <a:srgbClr val="000000">
                <a:alpha val="1764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7"/>
          <p:cNvSpPr/>
          <p:nvPr/>
        </p:nvSpPr>
        <p:spPr>
          <a:xfrm>
            <a:off x="7635240" y="132588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Canali &amp; trigger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7"/>
          <p:cNvSpPr/>
          <p:nvPr/>
        </p:nvSpPr>
        <p:spPr>
          <a:xfrm>
            <a:off x="7635240" y="1755648"/>
            <a:ext cx="1143000" cy="329184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7"/>
          <p:cNvSpPr/>
          <p:nvPr/>
        </p:nvSpPr>
        <p:spPr>
          <a:xfrm>
            <a:off x="7635240" y="1810512"/>
            <a:ext cx="1143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Email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8869680" y="1755648"/>
            <a:ext cx="1143000" cy="329184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7"/>
          <p:cNvSpPr/>
          <p:nvPr/>
        </p:nvSpPr>
        <p:spPr>
          <a:xfrm>
            <a:off x="8869680" y="1810512"/>
            <a:ext cx="1143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SMS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7"/>
          <p:cNvSpPr/>
          <p:nvPr/>
        </p:nvSpPr>
        <p:spPr>
          <a:xfrm>
            <a:off x="10104120" y="1755648"/>
            <a:ext cx="1143000" cy="329184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7"/>
          <p:cNvSpPr/>
          <p:nvPr/>
        </p:nvSpPr>
        <p:spPr>
          <a:xfrm>
            <a:off x="10104120" y="1810512"/>
            <a:ext cx="1143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WhatsApp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7"/>
          <p:cNvSpPr/>
          <p:nvPr/>
        </p:nvSpPr>
        <p:spPr>
          <a:xfrm>
            <a:off x="7635240" y="22402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Trigger tipici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7"/>
          <p:cNvSpPr/>
          <p:nvPr/>
        </p:nvSpPr>
        <p:spPr>
          <a:xfrm>
            <a:off x="7635240" y="2560320"/>
            <a:ext cx="374904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Account non attivato (no password)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Domanda tesseramento incompleta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Certificato medico mancante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Certificato in scadenza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Quota annuale non versata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7"/>
          <p:cNvSpPr/>
          <p:nvPr/>
        </p:nvSpPr>
        <p:spPr>
          <a:xfrm>
            <a:off x="7635240" y="5623560"/>
            <a:ext cx="3749040" cy="8686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7"/>
          <p:cNvSpPr/>
          <p:nvPr/>
        </p:nvSpPr>
        <p:spPr>
          <a:xfrm>
            <a:off x="7818120" y="5742432"/>
            <a:ext cx="3429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Nota: definire SLA e policy (es. blocco accesso corsi se certificato non valido).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8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81D25"/>
          </a:solidFill>
          <a:ln cap="flat" cmpd="sng" w="12700">
            <a:solidFill>
              <a:srgbClr val="C81D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studio_gem_logo.png" id="213" name="Google Shape;21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164592"/>
            <a:ext cx="822960" cy="82296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8"/>
          <p:cNvSpPr/>
          <p:nvPr/>
        </p:nvSpPr>
        <p:spPr>
          <a:xfrm>
            <a:off x="1325880" y="201168"/>
            <a:ext cx="10698480" cy="685800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8"/>
          <p:cNvSpPr/>
          <p:nvPr/>
        </p:nvSpPr>
        <p:spPr>
          <a:xfrm>
            <a:off x="1325880" y="256032"/>
            <a:ext cx="10607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Flusso in sede (totem / tablet / staff)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8"/>
          <p:cNvSpPr/>
          <p:nvPr/>
        </p:nvSpPr>
        <p:spPr>
          <a:xfrm>
            <a:off x="685800" y="1143000"/>
            <a:ext cx="5715000" cy="5486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6E6E6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19050">
              <a:srgbClr val="000000">
                <a:alpha val="1764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8"/>
          <p:cNvSpPr/>
          <p:nvPr/>
        </p:nvSpPr>
        <p:spPr>
          <a:xfrm>
            <a:off x="6537960" y="1143000"/>
            <a:ext cx="4983480" cy="5486400"/>
          </a:xfrm>
          <a:prstGeom prst="roundRect">
            <a:avLst>
              <a:gd fmla="val 16667" name="adj"/>
            </a:avLst>
          </a:prstGeom>
          <a:solidFill>
            <a:srgbClr val="F6F7F9"/>
          </a:solidFill>
          <a:ln cap="flat" cmpd="sng" w="12700">
            <a:solidFill>
              <a:srgbClr val="E6E6E6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19050">
              <a:srgbClr val="000000">
                <a:alpha val="1764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8"/>
          <p:cNvSpPr/>
          <p:nvPr/>
        </p:nvSpPr>
        <p:spPr>
          <a:xfrm>
            <a:off x="960120" y="1325880"/>
            <a:ext cx="5212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A) Self-service (totem)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8"/>
          <p:cNvSpPr/>
          <p:nvPr/>
        </p:nvSpPr>
        <p:spPr>
          <a:xfrm>
            <a:off x="960120" y="1737360"/>
            <a:ext cx="544068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550"/>
              <a:buFont typeface="Calibri"/>
              <a:buChar char="•"/>
            </a:pPr>
            <a:r>
              <a:rPr b="0" i="0" lang="en-US" sz="15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Utente sceglie corsi da calendario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550"/>
              <a:buFont typeface="Calibri"/>
              <a:buChar char="•"/>
            </a:pPr>
            <a:r>
              <a:rPr b="0" i="0" lang="en-US" sz="15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Checkout + pagamento sul dispositivo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550"/>
              <a:buFont typeface="Calibri"/>
              <a:buChar char="•"/>
            </a:pPr>
            <a:r>
              <a:rPr b="0" i="0" lang="en-US" sz="15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Riceve email per impostare password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550"/>
              <a:buFont typeface="Calibri"/>
              <a:buChar char="•"/>
            </a:pPr>
            <a:r>
              <a:rPr b="0" i="0" lang="en-US" sz="15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Completa tesseramento da casa o in sede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8"/>
          <p:cNvSpPr/>
          <p:nvPr/>
        </p:nvSpPr>
        <p:spPr>
          <a:xfrm>
            <a:off x="6812280" y="1325880"/>
            <a:ext cx="4480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B) Assistito (staff)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8"/>
          <p:cNvSpPr/>
          <p:nvPr/>
        </p:nvSpPr>
        <p:spPr>
          <a:xfrm>
            <a:off x="6812280" y="1737360"/>
            <a:ext cx="457200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550"/>
              <a:buFont typeface="Calibri"/>
              <a:buChar char="•"/>
            </a:pPr>
            <a:r>
              <a:rPr b="0" i="0" lang="en-US" sz="15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Staff crea carrello per l’utente (in presenza)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550"/>
              <a:buFont typeface="Calibri"/>
              <a:buChar char="•"/>
            </a:pPr>
            <a:r>
              <a:rPr b="0" i="0" lang="en-US" sz="15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Pagamento: POS / link / bonifico istantaneo / contanti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550"/>
              <a:buFont typeface="Calibri"/>
              <a:buChar char="•"/>
            </a:pPr>
            <a:r>
              <a:rPr b="0" i="0" lang="en-US" sz="15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Si genera lo stesso account + stesso customer_id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550"/>
              <a:buFont typeface="Calibri"/>
              <a:buChar char="•"/>
            </a:pPr>
            <a:r>
              <a:rPr b="0" i="0" lang="en-US" sz="15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CRM e gestionale si aggiornano come per l’online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8"/>
          <p:cNvSpPr/>
          <p:nvPr/>
        </p:nvSpPr>
        <p:spPr>
          <a:xfrm>
            <a:off x="960120" y="3520440"/>
            <a:ext cx="10607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Unico flusso, stessi eventi, stessi sistemi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8"/>
          <p:cNvSpPr/>
          <p:nvPr/>
        </p:nvSpPr>
        <p:spPr>
          <a:xfrm>
            <a:off x="960120" y="4114800"/>
            <a:ext cx="1828800" cy="6400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8"/>
          <p:cNvSpPr/>
          <p:nvPr/>
        </p:nvSpPr>
        <p:spPr>
          <a:xfrm>
            <a:off x="1051560" y="4224528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Front (WP + Calendario)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8"/>
          <p:cNvSpPr/>
          <p:nvPr/>
        </p:nvSpPr>
        <p:spPr>
          <a:xfrm>
            <a:off x="3840480" y="4114800"/>
            <a:ext cx="1828800" cy="6400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8"/>
          <p:cNvSpPr/>
          <p:nvPr/>
        </p:nvSpPr>
        <p:spPr>
          <a:xfrm>
            <a:off x="3931920" y="4224528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Pagamento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8"/>
          <p:cNvSpPr/>
          <p:nvPr/>
        </p:nvSpPr>
        <p:spPr>
          <a:xfrm>
            <a:off x="6080760" y="4114800"/>
            <a:ext cx="1828800" cy="6400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8"/>
          <p:cNvSpPr/>
          <p:nvPr/>
        </p:nvSpPr>
        <p:spPr>
          <a:xfrm>
            <a:off x="6172200" y="4224528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Account + Area utente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8"/>
          <p:cNvSpPr/>
          <p:nvPr/>
        </p:nvSpPr>
        <p:spPr>
          <a:xfrm>
            <a:off x="8458200" y="4114800"/>
            <a:ext cx="1828800" cy="6400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8"/>
          <p:cNvSpPr/>
          <p:nvPr/>
        </p:nvSpPr>
        <p:spPr>
          <a:xfrm>
            <a:off x="8549640" y="4224528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Gestionale (DB)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8"/>
          <p:cNvSpPr/>
          <p:nvPr/>
        </p:nvSpPr>
        <p:spPr>
          <a:xfrm>
            <a:off x="10332720" y="4114800"/>
            <a:ext cx="1828800" cy="6400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8"/>
          <p:cNvSpPr/>
          <p:nvPr/>
        </p:nvSpPr>
        <p:spPr>
          <a:xfrm>
            <a:off x="10424160" y="4224528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CRM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3" name="Google Shape;233;p8"/>
          <p:cNvCxnSpPr/>
          <p:nvPr/>
        </p:nvCxnSpPr>
        <p:spPr>
          <a:xfrm>
            <a:off x="2788920" y="4434840"/>
            <a:ext cx="1051560" cy="0"/>
          </a:xfrm>
          <a:prstGeom prst="straightConnector1">
            <a:avLst/>
          </a:prstGeom>
          <a:noFill/>
          <a:ln cap="flat" cmpd="sng" w="25400">
            <a:solidFill>
              <a:srgbClr val="C81D2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34" name="Google Shape;234;p8"/>
          <p:cNvCxnSpPr/>
          <p:nvPr/>
        </p:nvCxnSpPr>
        <p:spPr>
          <a:xfrm>
            <a:off x="5669280" y="4434840"/>
            <a:ext cx="411480" cy="0"/>
          </a:xfrm>
          <a:prstGeom prst="straightConnector1">
            <a:avLst/>
          </a:prstGeom>
          <a:noFill/>
          <a:ln cap="flat" cmpd="sng" w="25400">
            <a:solidFill>
              <a:srgbClr val="C81D2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35" name="Google Shape;235;p8"/>
          <p:cNvCxnSpPr/>
          <p:nvPr/>
        </p:nvCxnSpPr>
        <p:spPr>
          <a:xfrm>
            <a:off x="7909560" y="4434840"/>
            <a:ext cx="548640" cy="0"/>
          </a:xfrm>
          <a:prstGeom prst="straightConnector1">
            <a:avLst/>
          </a:prstGeom>
          <a:noFill/>
          <a:ln cap="flat" cmpd="sng" w="25400">
            <a:solidFill>
              <a:srgbClr val="C81D2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36" name="Google Shape;236;p8"/>
          <p:cNvCxnSpPr/>
          <p:nvPr/>
        </p:nvCxnSpPr>
        <p:spPr>
          <a:xfrm>
            <a:off x="10104120" y="4434840"/>
            <a:ext cx="228600" cy="0"/>
          </a:xfrm>
          <a:prstGeom prst="straightConnector1">
            <a:avLst/>
          </a:prstGeom>
          <a:noFill/>
          <a:ln cap="flat" cmpd="sng" w="25400">
            <a:solidFill>
              <a:srgbClr val="C81D2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37" name="Google Shape;237;p8"/>
          <p:cNvSpPr/>
          <p:nvPr/>
        </p:nvSpPr>
        <p:spPr>
          <a:xfrm>
            <a:off x="960120" y="4983480"/>
            <a:ext cx="10652760" cy="1463040"/>
          </a:xfrm>
          <a:prstGeom prst="roundRect">
            <a:avLst>
              <a:gd fmla="val 16667" name="adj"/>
            </a:avLst>
          </a:prstGeom>
          <a:solidFill>
            <a:srgbClr val="F6F7F9"/>
          </a:solidFill>
          <a:ln cap="flat" cmpd="sng" w="12700">
            <a:solidFill>
              <a:srgbClr val="E6E6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8"/>
          <p:cNvSpPr/>
          <p:nvPr/>
        </p:nvSpPr>
        <p:spPr>
          <a:xfrm>
            <a:off x="1143000" y="5102352"/>
            <a:ext cx="10287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Requisito fondamentale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8"/>
          <p:cNvSpPr/>
          <p:nvPr/>
        </p:nvSpPr>
        <p:spPr>
          <a:xfrm>
            <a:off x="1143000" y="5358384"/>
            <a:ext cx="10287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Ogni acquisto (online o in sede) crea/aggiorna lo stesso contatto: niente duplicati, niente gestionali paralleli.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9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81D25"/>
          </a:solidFill>
          <a:ln cap="flat" cmpd="sng" w="12700">
            <a:solidFill>
              <a:srgbClr val="C81D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studio_gem_logo.png" id="246" name="Google Shape;24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164592"/>
            <a:ext cx="822960" cy="82296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9"/>
          <p:cNvSpPr/>
          <p:nvPr/>
        </p:nvSpPr>
        <p:spPr>
          <a:xfrm>
            <a:off x="1325880" y="201168"/>
            <a:ext cx="10698480" cy="685800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9"/>
          <p:cNvSpPr/>
          <p:nvPr/>
        </p:nvSpPr>
        <p:spPr>
          <a:xfrm>
            <a:off x="1325880" y="256032"/>
            <a:ext cx="10607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Architettura integrazioni (vista tecnica)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9"/>
          <p:cNvSpPr/>
          <p:nvPr/>
        </p:nvSpPr>
        <p:spPr>
          <a:xfrm>
            <a:off x="685800" y="1143000"/>
            <a:ext cx="10972800" cy="5486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6E6E6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19050">
              <a:srgbClr val="000000">
                <a:alpha val="1764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9"/>
          <p:cNvSpPr/>
          <p:nvPr/>
        </p:nvSpPr>
        <p:spPr>
          <a:xfrm>
            <a:off x="1005840" y="1600200"/>
            <a:ext cx="2971800" cy="960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  <a:effectLst>
            <a:outerShdw blurRad="31750" rotWithShape="0" algn="bl" dir="2700000" dist="15240">
              <a:srgbClr val="000000">
                <a:alpha val="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9"/>
          <p:cNvSpPr/>
          <p:nvPr/>
        </p:nvSpPr>
        <p:spPr>
          <a:xfrm>
            <a:off x="1143000" y="1764792"/>
            <a:ext cx="2697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WordPress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(UX + contenuti)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9"/>
          <p:cNvSpPr/>
          <p:nvPr/>
        </p:nvSpPr>
        <p:spPr>
          <a:xfrm>
            <a:off x="1005840" y="2971800"/>
            <a:ext cx="2971800" cy="960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  <a:effectLst>
            <a:outerShdw blurRad="31750" rotWithShape="0" algn="bl" dir="2700000" dist="15240">
              <a:srgbClr val="000000">
                <a:alpha val="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9"/>
          <p:cNvSpPr/>
          <p:nvPr/>
        </p:nvSpPr>
        <p:spPr>
          <a:xfrm>
            <a:off x="1143000" y="3136392"/>
            <a:ext cx="2697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Calendario / E-commerce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(selezione corsi)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9"/>
          <p:cNvSpPr/>
          <p:nvPr/>
        </p:nvSpPr>
        <p:spPr>
          <a:xfrm>
            <a:off x="1005840" y="4434840"/>
            <a:ext cx="2971800" cy="960120"/>
          </a:xfrm>
          <a:prstGeom prst="roundRect">
            <a:avLst>
              <a:gd fmla="val 16667" name="adj"/>
            </a:avLst>
          </a:prstGeom>
          <a:solidFill>
            <a:srgbClr val="C81D25"/>
          </a:solidFill>
          <a:ln cap="flat" cmpd="sng" w="12700">
            <a:solidFill>
              <a:srgbClr val="C81D25"/>
            </a:solidFill>
            <a:prstDash val="solid"/>
            <a:round/>
            <a:headEnd len="sm" w="sm" type="none"/>
            <a:tailEnd len="sm" w="sm" type="none"/>
          </a:ln>
          <a:effectLst>
            <a:outerShdw blurRad="31750" rotWithShape="0" algn="bl" dir="2700000" dist="15240">
              <a:srgbClr val="000000">
                <a:alpha val="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9"/>
          <p:cNvSpPr/>
          <p:nvPr/>
        </p:nvSpPr>
        <p:spPr>
          <a:xfrm>
            <a:off x="1143000" y="4599432"/>
            <a:ext cx="2697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Pagamenti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(multi-metodo)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9"/>
          <p:cNvSpPr/>
          <p:nvPr/>
        </p:nvSpPr>
        <p:spPr>
          <a:xfrm>
            <a:off x="4617720" y="1600200"/>
            <a:ext cx="2971800" cy="960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  <a:effectLst>
            <a:outerShdw blurRad="31750" rotWithShape="0" algn="bl" dir="2700000" dist="15240">
              <a:srgbClr val="000000">
                <a:alpha val="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9"/>
          <p:cNvSpPr/>
          <p:nvPr/>
        </p:nvSpPr>
        <p:spPr>
          <a:xfrm>
            <a:off x="4754880" y="1764792"/>
            <a:ext cx="2697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Identity / Account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(utente + login)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9"/>
          <p:cNvSpPr/>
          <p:nvPr/>
        </p:nvSpPr>
        <p:spPr>
          <a:xfrm>
            <a:off x="4617720" y="2971800"/>
            <a:ext cx="2971800" cy="960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  <a:effectLst>
            <a:outerShdw blurRad="31750" rotWithShape="0" algn="bl" dir="2700000" dist="15240">
              <a:srgbClr val="000000">
                <a:alpha val="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9"/>
          <p:cNvSpPr/>
          <p:nvPr/>
        </p:nvSpPr>
        <p:spPr>
          <a:xfrm>
            <a:off x="4754880" y="3136392"/>
            <a:ext cx="2697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Area tesserati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(pagamenti + corsi)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9"/>
          <p:cNvSpPr/>
          <p:nvPr/>
        </p:nvSpPr>
        <p:spPr>
          <a:xfrm>
            <a:off x="4617720" y="4434840"/>
            <a:ext cx="2971800" cy="960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  <a:effectLst>
            <a:outerShdw blurRad="31750" rotWithShape="0" algn="bl" dir="2700000" dist="15240">
              <a:srgbClr val="000000">
                <a:alpha val="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9"/>
          <p:cNvSpPr/>
          <p:nvPr/>
        </p:nvSpPr>
        <p:spPr>
          <a:xfrm>
            <a:off x="4754880" y="4599432"/>
            <a:ext cx="2697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Documenti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(upload + storage)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9"/>
          <p:cNvSpPr/>
          <p:nvPr/>
        </p:nvSpPr>
        <p:spPr>
          <a:xfrm>
            <a:off x="8229600" y="2148840"/>
            <a:ext cx="2971800" cy="960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  <a:effectLst>
            <a:outerShdw blurRad="31750" rotWithShape="0" algn="bl" dir="2700000" dist="15240">
              <a:srgbClr val="000000">
                <a:alpha val="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9"/>
          <p:cNvSpPr/>
          <p:nvPr/>
        </p:nvSpPr>
        <p:spPr>
          <a:xfrm>
            <a:off x="8366760" y="2313432"/>
            <a:ext cx="2697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Gestionale interno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(DB + backoffice)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9"/>
          <p:cNvSpPr/>
          <p:nvPr/>
        </p:nvSpPr>
        <p:spPr>
          <a:xfrm>
            <a:off x="8229600" y="3977640"/>
            <a:ext cx="2971800" cy="960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  <a:effectLst>
            <a:outerShdw blurRad="31750" rotWithShape="0" algn="bl" dir="2700000" dist="15240">
              <a:srgbClr val="000000">
                <a:alpha val="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9"/>
          <p:cNvSpPr/>
          <p:nvPr/>
        </p:nvSpPr>
        <p:spPr>
          <a:xfrm>
            <a:off x="8366760" y="4142232"/>
            <a:ext cx="2697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CRM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(funnel + automazioni)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9"/>
          <p:cNvSpPr/>
          <p:nvPr/>
        </p:nvSpPr>
        <p:spPr>
          <a:xfrm>
            <a:off x="3794760" y="5577840"/>
            <a:ext cx="4754880" cy="777240"/>
          </a:xfrm>
          <a:prstGeom prst="roundRect">
            <a:avLst>
              <a:gd fmla="val 16667" name="adj"/>
            </a:avLst>
          </a:prstGeom>
          <a:solidFill>
            <a:srgbClr val="F6F7F9"/>
          </a:solidFill>
          <a:ln cap="flat" cmpd="sng" w="12700">
            <a:solidFill>
              <a:srgbClr val="E6E6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9"/>
          <p:cNvSpPr/>
          <p:nvPr/>
        </p:nvSpPr>
        <p:spPr>
          <a:xfrm>
            <a:off x="3886200" y="5705856"/>
            <a:ext cx="4572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Integrazione consigliata: Webhook / Event Bus + API (idempotenti)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8" name="Google Shape;268;p9"/>
          <p:cNvCxnSpPr/>
          <p:nvPr/>
        </p:nvCxnSpPr>
        <p:spPr>
          <a:xfrm>
            <a:off x="3977640" y="2057400"/>
            <a:ext cx="640080" cy="0"/>
          </a:xfrm>
          <a:prstGeom prst="straightConnector1">
            <a:avLst/>
          </a:prstGeom>
          <a:noFill/>
          <a:ln cap="flat" cmpd="sng" w="25400">
            <a:solidFill>
              <a:srgbClr val="C81D2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69" name="Google Shape;269;p9"/>
          <p:cNvCxnSpPr/>
          <p:nvPr/>
        </p:nvCxnSpPr>
        <p:spPr>
          <a:xfrm>
            <a:off x="3977640" y="3429000"/>
            <a:ext cx="640080" cy="0"/>
          </a:xfrm>
          <a:prstGeom prst="straightConnector1">
            <a:avLst/>
          </a:prstGeom>
          <a:noFill/>
          <a:ln cap="flat" cmpd="sng" w="25400">
            <a:solidFill>
              <a:srgbClr val="C81D2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70" name="Google Shape;270;p9"/>
          <p:cNvCxnSpPr/>
          <p:nvPr/>
        </p:nvCxnSpPr>
        <p:spPr>
          <a:xfrm>
            <a:off x="3977640" y="4892040"/>
            <a:ext cx="640080" cy="0"/>
          </a:xfrm>
          <a:prstGeom prst="straightConnector1">
            <a:avLst/>
          </a:prstGeom>
          <a:noFill/>
          <a:ln cap="flat" cmpd="sng" w="25400">
            <a:solidFill>
              <a:srgbClr val="C81D2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71" name="Google Shape;271;p9"/>
          <p:cNvCxnSpPr/>
          <p:nvPr/>
        </p:nvCxnSpPr>
        <p:spPr>
          <a:xfrm>
            <a:off x="7589520" y="2057400"/>
            <a:ext cx="640080" cy="594360"/>
          </a:xfrm>
          <a:prstGeom prst="straightConnector1">
            <a:avLst/>
          </a:prstGeom>
          <a:noFill/>
          <a:ln cap="flat" cmpd="sng" w="25400">
            <a:solidFill>
              <a:srgbClr val="C81D2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72" name="Google Shape;272;p9"/>
          <p:cNvCxnSpPr/>
          <p:nvPr/>
        </p:nvCxnSpPr>
        <p:spPr>
          <a:xfrm flipH="1" rot="10800000">
            <a:off x="7589520" y="2651760"/>
            <a:ext cx="640080" cy="777240"/>
          </a:xfrm>
          <a:prstGeom prst="straightConnector1">
            <a:avLst/>
          </a:prstGeom>
          <a:noFill/>
          <a:ln cap="flat" cmpd="sng" w="25400">
            <a:solidFill>
              <a:srgbClr val="C81D2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73" name="Google Shape;273;p9"/>
          <p:cNvCxnSpPr/>
          <p:nvPr/>
        </p:nvCxnSpPr>
        <p:spPr>
          <a:xfrm flipH="1" rot="10800000">
            <a:off x="7589520" y="4480560"/>
            <a:ext cx="640080" cy="411480"/>
          </a:xfrm>
          <a:prstGeom prst="straightConnector1">
            <a:avLst/>
          </a:prstGeom>
          <a:noFill/>
          <a:ln cap="flat" cmpd="sng" w="25400">
            <a:solidFill>
              <a:srgbClr val="C81D2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74" name="Google Shape;274;p9"/>
          <p:cNvCxnSpPr/>
          <p:nvPr/>
        </p:nvCxnSpPr>
        <p:spPr>
          <a:xfrm flipH="1" rot="10800000">
            <a:off x="7589520" y="4480560"/>
            <a:ext cx="640080" cy="411480"/>
          </a:xfrm>
          <a:prstGeom prst="straightConnector1">
            <a:avLst/>
          </a:prstGeom>
          <a:noFill/>
          <a:ln cap="flat" cmpd="sng" w="25400">
            <a:solidFill>
              <a:srgbClr val="C81D2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75" name="Google Shape;275;p9"/>
          <p:cNvSpPr/>
          <p:nvPr/>
        </p:nvSpPr>
        <p:spPr>
          <a:xfrm>
            <a:off x="822960" y="649224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Note chiave per i tecnici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9"/>
          <p:cNvSpPr/>
          <p:nvPr/>
        </p:nvSpPr>
        <p:spPr>
          <a:xfrm>
            <a:off x="1783080" y="649224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• customer_id unico • audit log eventi • consenso/privacy • gestione scadenze certificati • ruoli (utente/staff/admin)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81D25"/>
          </a:solidFill>
          <a:ln cap="flat" cmpd="sng" w="12700">
            <a:solidFill>
              <a:srgbClr val="C81D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studio_gem_logo.png" id="283" name="Google Shape;28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164592"/>
            <a:ext cx="822960" cy="82296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10"/>
          <p:cNvSpPr/>
          <p:nvPr/>
        </p:nvSpPr>
        <p:spPr>
          <a:xfrm>
            <a:off x="1325880" y="201168"/>
            <a:ext cx="10698480" cy="685800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0"/>
          <p:cNvSpPr/>
          <p:nvPr/>
        </p:nvSpPr>
        <p:spPr>
          <a:xfrm>
            <a:off x="1325880" y="256032"/>
            <a:ext cx="10607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Eventi principali (trigger) e cosa devono generare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0"/>
          <p:cNvSpPr/>
          <p:nvPr/>
        </p:nvSpPr>
        <p:spPr>
          <a:xfrm>
            <a:off x="685800" y="1143000"/>
            <a:ext cx="10972800" cy="5486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6E6E6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19050">
              <a:srgbClr val="000000">
                <a:alpha val="1764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0"/>
          <p:cNvSpPr/>
          <p:nvPr/>
        </p:nvSpPr>
        <p:spPr>
          <a:xfrm>
            <a:off x="960120" y="1325880"/>
            <a:ext cx="10424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Esempio (da adattare in fase tecnica):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0"/>
          <p:cNvSpPr/>
          <p:nvPr/>
        </p:nvSpPr>
        <p:spPr>
          <a:xfrm>
            <a:off x="960120" y="1691640"/>
            <a:ext cx="10424160" cy="457200"/>
          </a:xfrm>
          <a:prstGeom prst="rect">
            <a:avLst/>
          </a:prstGeom>
          <a:solidFill>
            <a:srgbClr val="C81D25"/>
          </a:solidFill>
          <a:ln cap="flat" cmpd="sng" w="12700">
            <a:solidFill>
              <a:srgbClr val="C81D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0"/>
          <p:cNvSpPr/>
          <p:nvPr/>
        </p:nvSpPr>
        <p:spPr>
          <a:xfrm>
            <a:off x="1097280" y="1801368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Evento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0"/>
          <p:cNvSpPr/>
          <p:nvPr/>
        </p:nvSpPr>
        <p:spPr>
          <a:xfrm>
            <a:off x="3840480" y="1801368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Sorgente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0"/>
          <p:cNvSpPr/>
          <p:nvPr/>
        </p:nvSpPr>
        <p:spPr>
          <a:xfrm>
            <a:off x="5852160" y="1801368"/>
            <a:ext cx="5394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Effetti attesi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0"/>
          <p:cNvSpPr/>
          <p:nvPr/>
        </p:nvSpPr>
        <p:spPr>
          <a:xfrm>
            <a:off x="960120" y="2148840"/>
            <a:ext cx="10424160" cy="8229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6E6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0"/>
          <p:cNvSpPr/>
          <p:nvPr/>
        </p:nvSpPr>
        <p:spPr>
          <a:xfrm>
            <a:off x="1097280" y="2286000"/>
            <a:ext cx="2468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OrderPaid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0"/>
          <p:cNvSpPr/>
          <p:nvPr/>
        </p:nvSpPr>
        <p:spPr>
          <a:xfrm>
            <a:off x="3840480" y="2286000"/>
            <a:ext cx="1737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Pagamenti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0"/>
          <p:cNvSpPr/>
          <p:nvPr/>
        </p:nvSpPr>
        <p:spPr>
          <a:xfrm>
            <a:off x="5852160" y="2286000"/>
            <a:ext cx="5394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Crea/aggiorna utente + area • Registra acquisto (corsi/PT/affitti) • Aggiorna gestionale • Crea/aggiorna contatto CRM • Invia tessera digitale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0"/>
          <p:cNvSpPr/>
          <p:nvPr/>
        </p:nvSpPr>
        <p:spPr>
          <a:xfrm>
            <a:off x="960120" y="2971800"/>
            <a:ext cx="10424160" cy="822960"/>
          </a:xfrm>
          <a:prstGeom prst="rect">
            <a:avLst/>
          </a:prstGeom>
          <a:solidFill>
            <a:srgbClr val="F6F7F9"/>
          </a:solidFill>
          <a:ln cap="flat" cmpd="sng" w="12700">
            <a:solidFill>
              <a:srgbClr val="E6E6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0"/>
          <p:cNvSpPr/>
          <p:nvPr/>
        </p:nvSpPr>
        <p:spPr>
          <a:xfrm>
            <a:off x="1097280" y="3108960"/>
            <a:ext cx="2468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PasswordSet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0"/>
          <p:cNvSpPr/>
          <p:nvPr/>
        </p:nvSpPr>
        <p:spPr>
          <a:xfrm>
            <a:off x="3840480" y="3108960"/>
            <a:ext cx="1737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Identity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0"/>
          <p:cNvSpPr/>
          <p:nvPr/>
        </p:nvSpPr>
        <p:spPr>
          <a:xfrm>
            <a:off x="5852160" y="3108960"/>
            <a:ext cx="5394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Marca account “attivo” • Sblocca onboarding tesseramento • Stop reminder “attiva account”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0"/>
          <p:cNvSpPr/>
          <p:nvPr/>
        </p:nvSpPr>
        <p:spPr>
          <a:xfrm>
            <a:off x="960120" y="3794760"/>
            <a:ext cx="10424160" cy="8229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6E6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0"/>
          <p:cNvSpPr/>
          <p:nvPr/>
        </p:nvSpPr>
        <p:spPr>
          <a:xfrm>
            <a:off x="1097280" y="3931920"/>
            <a:ext cx="2468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MembershipFeePaid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0"/>
          <p:cNvSpPr/>
          <p:nvPr/>
        </p:nvSpPr>
        <p:spPr>
          <a:xfrm>
            <a:off x="3840480" y="3931920"/>
            <a:ext cx="1737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Pagamenti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0"/>
          <p:cNvSpPr/>
          <p:nvPr/>
        </p:nvSpPr>
        <p:spPr>
          <a:xfrm>
            <a:off x="5852160" y="3931920"/>
            <a:ext cx="5394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Aggiorna validità annuale (€25) • Aggiorna CRM (stato tesseramento)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0"/>
          <p:cNvSpPr/>
          <p:nvPr/>
        </p:nvSpPr>
        <p:spPr>
          <a:xfrm>
            <a:off x="960120" y="4617720"/>
            <a:ext cx="10424160" cy="822960"/>
          </a:xfrm>
          <a:prstGeom prst="rect">
            <a:avLst/>
          </a:prstGeom>
          <a:solidFill>
            <a:srgbClr val="F6F7F9"/>
          </a:solidFill>
          <a:ln cap="flat" cmpd="sng" w="12700">
            <a:solidFill>
              <a:srgbClr val="E6E6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0"/>
          <p:cNvSpPr/>
          <p:nvPr/>
        </p:nvSpPr>
        <p:spPr>
          <a:xfrm>
            <a:off x="1097280" y="4754880"/>
            <a:ext cx="2468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DocsUploaded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0"/>
          <p:cNvSpPr/>
          <p:nvPr/>
        </p:nvSpPr>
        <p:spPr>
          <a:xfrm>
            <a:off x="3840480" y="4754880"/>
            <a:ext cx="1737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Area utente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0"/>
          <p:cNvSpPr/>
          <p:nvPr/>
        </p:nvSpPr>
        <p:spPr>
          <a:xfrm>
            <a:off x="5852160" y="4754880"/>
            <a:ext cx="5394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Aggiorna checklist • Notifica staff se serve verifica • Stop reminder documento mancante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0"/>
          <p:cNvSpPr/>
          <p:nvPr/>
        </p:nvSpPr>
        <p:spPr>
          <a:xfrm>
            <a:off x="960120" y="5440680"/>
            <a:ext cx="10424160" cy="8229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6E6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0"/>
          <p:cNvSpPr/>
          <p:nvPr/>
        </p:nvSpPr>
        <p:spPr>
          <a:xfrm>
            <a:off x="1097280" y="5577840"/>
            <a:ext cx="2468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MedicalCertExpiring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0"/>
          <p:cNvSpPr/>
          <p:nvPr/>
        </p:nvSpPr>
        <p:spPr>
          <a:xfrm>
            <a:off x="3840480" y="5577840"/>
            <a:ext cx="1737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Scheduler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0"/>
          <p:cNvSpPr/>
          <p:nvPr/>
        </p:nvSpPr>
        <p:spPr>
          <a:xfrm>
            <a:off x="5852160" y="5577840"/>
            <a:ext cx="5394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Invia avvisi (email/SMS/WA) • Eventuale blocco prenotazioni se policy lo richiede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0"/>
          <p:cNvSpPr/>
          <p:nvPr/>
        </p:nvSpPr>
        <p:spPr>
          <a:xfrm>
            <a:off x="960120" y="5989320"/>
            <a:ext cx="10424160" cy="594360"/>
          </a:xfrm>
          <a:prstGeom prst="roundRect">
            <a:avLst>
              <a:gd fmla="val 16667" name="adj"/>
            </a:avLst>
          </a:prstGeom>
          <a:solidFill>
            <a:srgbClr val="F6F7F9"/>
          </a:solidFill>
          <a:ln cap="flat" cmpd="sng" w="12700">
            <a:solidFill>
              <a:srgbClr val="E6E6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0"/>
          <p:cNvSpPr/>
          <p:nvPr/>
        </p:nvSpPr>
        <p:spPr>
          <a:xfrm>
            <a:off x="1143000" y="6153912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Nota: tutti gli eventi devono essere idempotenti (nessun doppio inserimento) e tracciati con audit log.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81D25"/>
          </a:solidFill>
          <a:ln cap="flat" cmpd="sng" w="12700">
            <a:solidFill>
              <a:srgbClr val="C81D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studio_gem_logo.png" id="320" name="Google Shape;32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164592"/>
            <a:ext cx="822960" cy="822960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11"/>
          <p:cNvSpPr/>
          <p:nvPr/>
        </p:nvSpPr>
        <p:spPr>
          <a:xfrm>
            <a:off x="1325880" y="201168"/>
            <a:ext cx="10698480" cy="685800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1"/>
          <p:cNvSpPr/>
          <p:nvPr/>
        </p:nvSpPr>
        <p:spPr>
          <a:xfrm>
            <a:off x="1325880" y="256032"/>
            <a:ext cx="10607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Tessera digitale (Wallet) – immediata post-pagamento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1"/>
          <p:cNvSpPr/>
          <p:nvPr/>
        </p:nvSpPr>
        <p:spPr>
          <a:xfrm>
            <a:off x="685800" y="1143000"/>
            <a:ext cx="6446520" cy="5486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6E6E6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19050">
              <a:srgbClr val="000000">
                <a:alpha val="1764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1"/>
          <p:cNvSpPr/>
          <p:nvPr/>
        </p:nvSpPr>
        <p:spPr>
          <a:xfrm>
            <a:off x="960120" y="1325880"/>
            <a:ext cx="5943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Requisiti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1"/>
          <p:cNvSpPr/>
          <p:nvPr/>
        </p:nvSpPr>
        <p:spPr>
          <a:xfrm>
            <a:off x="960120" y="1737360"/>
            <a:ext cx="6080760" cy="2468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Generata automaticamente al pagamento (anche primo acquisto)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Agganciabile a Apple Wallet e Google Wallet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Contiene identificativo tessera + QR/Barcode per check-in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Saldo punti / badge (fidelity) aggiornabile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Stato validità: tesseramento annuale + certificato medico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1"/>
          <p:cNvSpPr/>
          <p:nvPr/>
        </p:nvSpPr>
        <p:spPr>
          <a:xfrm>
            <a:off x="960120" y="4389120"/>
            <a:ext cx="6080760" cy="2103120"/>
          </a:xfrm>
          <a:prstGeom prst="roundRect">
            <a:avLst>
              <a:gd fmla="val 16667" name="adj"/>
            </a:avLst>
          </a:prstGeom>
          <a:solidFill>
            <a:srgbClr val="F6F7F9"/>
          </a:solidFill>
          <a:ln cap="flat" cmpd="sng" w="12700">
            <a:solidFill>
              <a:srgbClr val="E6E6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1"/>
          <p:cNvSpPr/>
          <p:nvPr/>
        </p:nvSpPr>
        <p:spPr>
          <a:xfrm>
            <a:off x="1143000" y="4526280"/>
            <a:ext cx="5669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Nota tecnica (minima)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1"/>
          <p:cNvSpPr/>
          <p:nvPr/>
        </p:nvSpPr>
        <p:spPr>
          <a:xfrm>
            <a:off x="1143000" y="4800600"/>
            <a:ext cx="57150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Generazione pass Wallet via provider o servizio interno. Il QR rimanda a customer_id. Aggiornamenti via API (punti/validità).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1"/>
          <p:cNvSpPr/>
          <p:nvPr/>
        </p:nvSpPr>
        <p:spPr>
          <a:xfrm>
            <a:off x="7360920" y="1143000"/>
            <a:ext cx="4297680" cy="5486400"/>
          </a:xfrm>
          <a:prstGeom prst="roundRect">
            <a:avLst>
              <a:gd fmla="val 16667" name="adj"/>
            </a:avLst>
          </a:prstGeom>
          <a:solidFill>
            <a:srgbClr val="F6F7F9"/>
          </a:solidFill>
          <a:ln cap="flat" cmpd="sng" w="12700">
            <a:solidFill>
              <a:srgbClr val="E6E6E6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19050">
              <a:srgbClr val="000000">
                <a:alpha val="1764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1"/>
          <p:cNvSpPr/>
          <p:nvPr/>
        </p:nvSpPr>
        <p:spPr>
          <a:xfrm>
            <a:off x="7909560" y="1554480"/>
            <a:ext cx="3200400" cy="46634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20320">
              <a:srgbClr val="000000">
                <a:alpha val="1568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1"/>
          <p:cNvSpPr/>
          <p:nvPr/>
        </p:nvSpPr>
        <p:spPr>
          <a:xfrm>
            <a:off x="8156448" y="1965960"/>
            <a:ext cx="2697480" cy="1828800"/>
          </a:xfrm>
          <a:prstGeom prst="roundRect">
            <a:avLst>
              <a:gd fmla="val 16667" name="adj"/>
            </a:avLst>
          </a:prstGeom>
          <a:solidFill>
            <a:srgbClr val="C81D25"/>
          </a:solidFill>
          <a:ln cap="flat" cmpd="sng" w="12700">
            <a:solidFill>
              <a:srgbClr val="C81D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studio_gem_logo.png" id="332" name="Google Shape;33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75320" y="2057400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11"/>
          <p:cNvSpPr/>
          <p:nvPr/>
        </p:nvSpPr>
        <p:spPr>
          <a:xfrm>
            <a:off x="8942832" y="214884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STUDIO GEM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1"/>
          <p:cNvSpPr/>
          <p:nvPr/>
        </p:nvSpPr>
        <p:spPr>
          <a:xfrm>
            <a:off x="8275320" y="260604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Tessera digitale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1"/>
          <p:cNvSpPr/>
          <p:nvPr/>
        </p:nvSpPr>
        <p:spPr>
          <a:xfrm>
            <a:off x="8275320" y="2926080"/>
            <a:ext cx="2560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ID: GEM-000123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1"/>
          <p:cNvSpPr/>
          <p:nvPr/>
        </p:nvSpPr>
        <p:spPr>
          <a:xfrm>
            <a:off x="8275320" y="3246120"/>
            <a:ext cx="777240" cy="7772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1"/>
          <p:cNvSpPr/>
          <p:nvPr/>
        </p:nvSpPr>
        <p:spPr>
          <a:xfrm>
            <a:off x="8321040" y="3291840"/>
            <a:ext cx="685800" cy="685800"/>
          </a:xfrm>
          <a:prstGeom prst="rect">
            <a:avLst/>
          </a:prstGeom>
          <a:solidFill>
            <a:srgbClr val="000000">
              <a:alpha val="14901"/>
            </a:srgbClr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1"/>
          <p:cNvSpPr/>
          <p:nvPr/>
        </p:nvSpPr>
        <p:spPr>
          <a:xfrm>
            <a:off x="9125712" y="3337560"/>
            <a:ext cx="1645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Punti: 120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1"/>
          <p:cNvSpPr/>
          <p:nvPr/>
        </p:nvSpPr>
        <p:spPr>
          <a:xfrm>
            <a:off x="9125712" y="3566160"/>
            <a:ext cx="1737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Validità: 2026-12-31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1"/>
          <p:cNvSpPr/>
          <p:nvPr/>
        </p:nvSpPr>
        <p:spPr>
          <a:xfrm>
            <a:off x="8183880" y="4069080"/>
            <a:ext cx="2743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Check-in rapido in sede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(scanner QR o barcode)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1"/>
          <p:cNvSpPr/>
          <p:nvPr/>
        </p:nvSpPr>
        <p:spPr>
          <a:xfrm>
            <a:off x="8156448" y="4709160"/>
            <a:ext cx="2697480" cy="502920"/>
          </a:xfrm>
          <a:prstGeom prst="roundRect">
            <a:avLst>
              <a:gd fmla="val 16667" name="adj"/>
            </a:avLst>
          </a:prstGeom>
          <a:solidFill>
            <a:srgbClr val="F6F7F9"/>
          </a:solidFill>
          <a:ln cap="flat" cmpd="sng" w="1270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1"/>
          <p:cNvSpPr/>
          <p:nvPr/>
        </p:nvSpPr>
        <p:spPr>
          <a:xfrm>
            <a:off x="8156448" y="4809744"/>
            <a:ext cx="2697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Aggiorna dati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81D25"/>
          </a:solidFill>
          <a:ln cap="flat" cmpd="sng" w="12700">
            <a:solidFill>
              <a:srgbClr val="C81D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studio_gem_logo.png" id="349" name="Google Shape;34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164592"/>
            <a:ext cx="822960" cy="822960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12"/>
          <p:cNvSpPr/>
          <p:nvPr/>
        </p:nvSpPr>
        <p:spPr>
          <a:xfrm>
            <a:off x="1325880" y="201168"/>
            <a:ext cx="10698480" cy="685800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2"/>
          <p:cNvSpPr/>
          <p:nvPr/>
        </p:nvSpPr>
        <p:spPr>
          <a:xfrm>
            <a:off x="1325880" y="256032"/>
            <a:ext cx="10607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Requisiti chiave + decisioni aperte (per kick-off tecnico)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2"/>
          <p:cNvSpPr/>
          <p:nvPr/>
        </p:nvSpPr>
        <p:spPr>
          <a:xfrm>
            <a:off x="685800" y="1143000"/>
            <a:ext cx="5806440" cy="5486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6E6E6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19050">
              <a:srgbClr val="000000">
                <a:alpha val="1764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12"/>
          <p:cNvSpPr/>
          <p:nvPr/>
        </p:nvSpPr>
        <p:spPr>
          <a:xfrm>
            <a:off x="6629400" y="1143000"/>
            <a:ext cx="5029200" cy="5486400"/>
          </a:xfrm>
          <a:prstGeom prst="roundRect">
            <a:avLst>
              <a:gd fmla="val 16667" name="adj"/>
            </a:avLst>
          </a:prstGeom>
          <a:solidFill>
            <a:srgbClr val="F6F7F9"/>
          </a:solidFill>
          <a:ln cap="flat" cmpd="sng" w="12700">
            <a:solidFill>
              <a:srgbClr val="E6E6E6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19050">
              <a:srgbClr val="000000">
                <a:alpha val="1764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2"/>
          <p:cNvSpPr/>
          <p:nvPr/>
        </p:nvSpPr>
        <p:spPr>
          <a:xfrm>
            <a:off x="960120" y="1325880"/>
            <a:ext cx="5303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Acceptance criteria (MVP)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2"/>
          <p:cNvSpPr/>
          <p:nvPr/>
        </p:nvSpPr>
        <p:spPr>
          <a:xfrm>
            <a:off x="960120" y="1737360"/>
            <a:ext cx="5532120" cy="2651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550"/>
              <a:buFont typeface="Calibri"/>
              <a:buChar char="•"/>
            </a:pPr>
            <a:r>
              <a:rPr b="0" i="0" lang="en-US" sz="15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Account creato automaticamente al pagamento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550"/>
              <a:buFont typeface="Calibri"/>
              <a:buChar char="•"/>
            </a:pPr>
            <a:r>
              <a:rPr b="0" i="0" lang="en-US" sz="15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Email “imposta password” immediata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550"/>
              <a:buFont typeface="Calibri"/>
              <a:buChar char="•"/>
            </a:pPr>
            <a:r>
              <a:rPr b="0" i="0" lang="en-US" sz="15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Area utente con storico pagamenti e acquisti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550"/>
              <a:buFont typeface="Calibri"/>
              <a:buChar char="•"/>
            </a:pPr>
            <a:r>
              <a:rPr b="0" i="0" lang="en-US" sz="15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Gestionale vede acquisto in tempo reale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550"/>
              <a:buFont typeface="Calibri"/>
              <a:buChar char="•"/>
            </a:pPr>
            <a:r>
              <a:rPr b="0" i="0" lang="en-US" sz="15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CRM riceve contatto + evento acquisto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550"/>
              <a:buFont typeface="Calibri"/>
              <a:buChar char="•"/>
            </a:pPr>
            <a:r>
              <a:rPr b="0" i="0" lang="en-US" sz="15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Tessera digitale inviata post-pagamento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2"/>
          <p:cNvSpPr/>
          <p:nvPr/>
        </p:nvSpPr>
        <p:spPr>
          <a:xfrm>
            <a:off x="6903720" y="1325880"/>
            <a:ext cx="4526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Decisioni aperte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2"/>
          <p:cNvSpPr/>
          <p:nvPr/>
        </p:nvSpPr>
        <p:spPr>
          <a:xfrm>
            <a:off x="6903720" y="1737360"/>
            <a:ext cx="4663440" cy="3063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Scelta CRM (HubSpot / ActiveCampaign / Zoho / altro)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Provider pagamenti + bonifico istantaneo (workflow)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Provider Wallet pass (Apple/Google) o servizio interno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Definizione policy: scadenze e blocchi accesso corsi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Migrazione GSheet → DB: modello dati + ruoli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Privacy/consensi: log e versioning documenti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2"/>
          <p:cNvSpPr/>
          <p:nvPr/>
        </p:nvSpPr>
        <p:spPr>
          <a:xfrm>
            <a:off x="6903720" y="5029200"/>
            <a:ext cx="4663440" cy="1600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12"/>
          <p:cNvSpPr/>
          <p:nvPr/>
        </p:nvSpPr>
        <p:spPr>
          <a:xfrm>
            <a:off x="7086600" y="5148072"/>
            <a:ext cx="4297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Output atteso dal team tecnico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2"/>
          <p:cNvSpPr/>
          <p:nvPr/>
        </p:nvSpPr>
        <p:spPr>
          <a:xfrm>
            <a:off x="7086600" y="5440680"/>
            <a:ext cx="44805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• Disegno architettura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• Lista integrazioni/API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• Piano migrazione dati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• MVP rilasciabile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2026-01-07T20:49:57Z</dcterms:created>
  <dc:creator>Studio GEM (draft)</dc:creator>
</cp:coreProperties>
</file>