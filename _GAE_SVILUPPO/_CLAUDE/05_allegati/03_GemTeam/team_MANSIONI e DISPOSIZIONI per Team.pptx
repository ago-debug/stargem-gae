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10692000" cx="7560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Maven Pro"/>
      <p:regular r:id="rId24"/>
      <p:bold r:id="rId25"/>
    </p:embeddedFon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748B5C-3FC9-4F24-9696-CF142D13AF51}">
  <a:tblStyle styleId="{CE748B5C-3FC9-4F24-9696-CF142D13AF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MavenPro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regular.fntdata"/><Relationship Id="rId25" Type="http://schemas.openxmlformats.org/officeDocument/2006/relationships/font" Target="fonts/MavenPro-bold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88d0519ab9_0_345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88d0519ab9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4d532e4ef_0_76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14d532e4e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e7d16edf6b_0_19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e7d16edf6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e7d16edf6b_0_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e7d16edf6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14d532e4ef_0_36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14d532e4e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14d532e4ef_0_89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14d532e4e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14d532e4ef_0_26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14d532e4e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e7d16edf6b_0_5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e7d16edf6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14d532e4ef_0_65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14d532e4e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8286672d41_0_1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8286672d4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c3581bd960_2_27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c3581bd960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e7d16edf6b_0_6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e7d16edf6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71195" y="7087692"/>
            <a:ext cx="1398468" cy="36014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4169968" y="0"/>
            <a:ext cx="3153475" cy="7980341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681260" y="3354697"/>
            <a:ext cx="3518400" cy="38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681260" y="7475773"/>
            <a:ext cx="3518400" cy="14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21348" y="7080"/>
            <a:ext cx="1019622" cy="2878033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5601639" y="6036562"/>
            <a:ext cx="1807507" cy="4655249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681260" y="3354723"/>
            <a:ext cx="4843200" cy="38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517522" y="622328"/>
            <a:ext cx="826174" cy="2077323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077945" y="1244282"/>
            <a:ext cx="5812500" cy="20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077945" y="4136797"/>
            <a:ext cx="5812500" cy="52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517522" y="622328"/>
            <a:ext cx="826174" cy="2077323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077945" y="1244282"/>
            <a:ext cx="5812500" cy="20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077945" y="4136797"/>
            <a:ext cx="2836200" cy="52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054199" y="4136797"/>
            <a:ext cx="2836200" cy="52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517522" y="622328"/>
            <a:ext cx="826174" cy="2077323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077945" y="1244282"/>
            <a:ext cx="5812500" cy="20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517522" y="622328"/>
            <a:ext cx="826174" cy="2077323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077945" y="1244282"/>
            <a:ext cx="2738400" cy="33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077945" y="4801214"/>
            <a:ext cx="2738400" cy="46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5677397" y="2716"/>
            <a:ext cx="1874728" cy="5408132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681260" y="1587326"/>
            <a:ext cx="4843200" cy="742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517522" y="622328"/>
            <a:ext cx="826174" cy="2077323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077945" y="1244282"/>
            <a:ext cx="2836200" cy="4137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077945" y="5702406"/>
            <a:ext cx="2836200" cy="1509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054240" y="1374047"/>
            <a:ext cx="2836200" cy="804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589791" y="7997156"/>
            <a:ext cx="682394" cy="1715753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077945" y="8603854"/>
            <a:ext cx="4830900" cy="1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43" y="8521007"/>
            <a:ext cx="7560289" cy="2170787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148076" y="1606294"/>
            <a:ext cx="5264100" cy="38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148076" y="5638167"/>
            <a:ext cx="5264100" cy="23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987085" y="9846942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u/0/d/1qHiKAJBvILYmqrKWrMvgWRXaC32EgJDEpK9ukK3KsFU/edi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trello.com/b/UfJT5egT" TargetMode="External"/><Relationship Id="rId4" Type="http://schemas.openxmlformats.org/officeDocument/2006/relationships/hyperlink" Target="https://trello.com/c/pOwhj0kN" TargetMode="External"/><Relationship Id="rId5" Type="http://schemas.openxmlformats.org/officeDocument/2006/relationships/hyperlink" Target="https://trello.com/c/IYavTgqW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ello.com/c/kPqlRaTP" TargetMode="External"/><Relationship Id="rId4" Type="http://schemas.openxmlformats.org/officeDocument/2006/relationships/hyperlink" Target="https://trello.com/c/4xUm9xXC" TargetMode="External"/><Relationship Id="rId5" Type="http://schemas.openxmlformats.org/officeDocument/2006/relationships/hyperlink" Target="https://trello.com/c/ceqHvV5d/180-prenotazioni-visite-mediche" TargetMode="External"/><Relationship Id="rId6" Type="http://schemas.openxmlformats.org/officeDocument/2006/relationships/hyperlink" Target="https://trello.com/c/zSVo758o/21-certificati-medici-non-agonistico-e-pagamenti-e-accordi-con-i-medici" TargetMode="External"/><Relationship Id="rId7" Type="http://schemas.openxmlformats.org/officeDocument/2006/relationships/hyperlink" Target="https://trello.com/c/ceqHvV5d/180-prenotazioni-visite-medich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spreadsheets/u/0/d/1qHiKAJBvILYmqrKWrMvgWRXaC32EgJDEpK9ukK3KsFU/edi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u/0/d/1qHiKAJBvILYmqrKWrMvgWRXaC32EgJDEpK9ukK3KsFU/edi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rello.com/c/oCpzlsHE" TargetMode="External"/><Relationship Id="rId4" Type="http://schemas.openxmlformats.org/officeDocument/2006/relationships/hyperlink" Target="https://trello.com/c/mhtUPlo4" TargetMode="External"/><Relationship Id="rId5" Type="http://schemas.openxmlformats.org/officeDocument/2006/relationships/hyperlink" Target="https://docs.google.com/spreadsheets/u/0/d/1qHiKAJBvILYmqrKWrMvgWRXaC32EgJDEpK9ukK3KsFU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idx="1" type="subTitle"/>
          </p:nvPr>
        </p:nvSpPr>
        <p:spPr>
          <a:xfrm>
            <a:off x="681256" y="8233900"/>
            <a:ext cx="2833500" cy="14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(aggiornato il 27mar2025)</a:t>
            </a:r>
            <a:endParaRPr sz="21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278" name="Google Shape;278;p13" title="TEAM STUDIO GE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3149"/>
            <a:ext cx="7604226" cy="1075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3"/>
          <p:cNvSpPr txBox="1"/>
          <p:nvPr/>
        </p:nvSpPr>
        <p:spPr>
          <a:xfrm>
            <a:off x="1176300" y="9814175"/>
            <a:ext cx="540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AGGIORNATO 27 MARZO 2025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0" name="Google Shape;280;p13" title="IMG_598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6250" y="8212377"/>
            <a:ext cx="1101464" cy="127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3" title="val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3999" y="8212377"/>
            <a:ext cx="1101465" cy="1280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3" title="fede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6315" y="8204925"/>
            <a:ext cx="1374284" cy="128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 txBox="1"/>
          <p:nvPr>
            <p:ph type="title"/>
          </p:nvPr>
        </p:nvSpPr>
        <p:spPr>
          <a:xfrm>
            <a:off x="1077950" y="1561078"/>
            <a:ext cx="58125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Quello che devono fare tutte le persone del team segreteria:</a:t>
            </a:r>
            <a:endParaRPr b="0"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Immagine e cura della persona. Usare abbigliamento nero. Rispetto e collaborazione tra di voi. Comunicazione interna attraverso Trello (s</a:t>
            </a:r>
            <a:r>
              <a:rPr b="0"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caricarlo anche sul cell per poter comunicare assenze, permessi, malattie, ecc.).</a:t>
            </a:r>
            <a:endParaRPr b="0"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8" name="Google Shape;288;p14"/>
          <p:cNvSpPr txBox="1"/>
          <p:nvPr>
            <p:ph idx="1" type="body"/>
          </p:nvPr>
        </p:nvSpPr>
        <p:spPr>
          <a:xfrm>
            <a:off x="1077950" y="4317300"/>
            <a:ext cx="5812500" cy="3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Vendita corsi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Inserimento domande di tesseramento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Inserimento iscrizioni nelle liste corsi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Prendere le presenze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Ordine nelle postazioni di lavoro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Controllo pagamenti e presenze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Compilazione ricevute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Chiusura conti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291396" y="635003"/>
            <a:ext cx="7048200" cy="749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TEAM </a:t>
            </a:r>
            <a:r>
              <a:rPr lang="it">
                <a:latin typeface="Verdana"/>
                <a:ea typeface="Verdana"/>
                <a:cs typeface="Verdana"/>
                <a:sym typeface="Verdana"/>
              </a:rPr>
              <a:t>SEGRETERIA</a:t>
            </a:r>
            <a:endParaRPr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0" name="Google Shape;290;p14"/>
          <p:cNvSpPr txBox="1"/>
          <p:nvPr/>
        </p:nvSpPr>
        <p:spPr>
          <a:xfrm>
            <a:off x="1162050" y="3486150"/>
            <a:ext cx="5562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Verdana"/>
                <a:ea typeface="Verdana"/>
                <a:cs typeface="Verdana"/>
                <a:sym typeface="Verdana"/>
              </a:rPr>
              <a:t>MANSIONI CHE DEVONO SVOLGERE TUTTI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/>
        </p:nvSpPr>
        <p:spPr>
          <a:xfrm>
            <a:off x="380550" y="420375"/>
            <a:ext cx="6802200" cy="9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latin typeface="Verdana"/>
                <a:ea typeface="Verdana"/>
                <a:cs typeface="Verdana"/>
                <a:sym typeface="Verdana"/>
              </a:rPr>
              <a:t>TEAM </a:t>
            </a:r>
            <a:r>
              <a:rPr lang="it" sz="2000">
                <a:latin typeface="Verdana"/>
                <a:ea typeface="Verdana"/>
                <a:cs typeface="Verdana"/>
                <a:sym typeface="Verdana"/>
              </a:rPr>
              <a:t>SEGRETERIA -</a:t>
            </a:r>
            <a:r>
              <a:rPr lang="it">
                <a:latin typeface="Verdana"/>
                <a:ea typeface="Verdana"/>
                <a:cs typeface="Verdana"/>
                <a:sym typeface="Verdana"/>
              </a:rPr>
              <a:t> DETTAGLI GENERICI RIGUARDO: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La mattinata si svolge così: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Arrivo alle ore 08:30 apertura porte, cassetti, recupero fondi cassa </a:t>
            </a:r>
            <a:r>
              <a:rPr lang="it">
                <a:latin typeface="Verdana"/>
                <a:ea typeface="Verdana"/>
                <a:cs typeface="Verdana"/>
                <a:sym typeface="Verdana"/>
              </a:rPr>
              <a:t>e moneta</a:t>
            </a:r>
            <a:r>
              <a:rPr lang="it">
                <a:latin typeface="Verdana"/>
                <a:ea typeface="Verdana"/>
                <a:cs typeface="Verdana"/>
                <a:sym typeface="Verdana"/>
              </a:rPr>
              <a:t>, attivare i cellulari nei tre piani, accendere i computer, pulire e riordinare la propria postazione.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Guardare sempre Trello entro i 30 min dal vostro arrivo sul lavoro. 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RECEPTION PIANO TERRA: Chi è in reception piano terra si deve occupare di rispondere al telefono (fisso e cellulare), dare informazioni alle persone, rispondere all’email, controllare se hanno fatto delle lezioni di prova nei giorni precedenti (corsi nuovi oppure persone che hanno fatto prove nei corsi già attivi -fitness, danza, ballo di coppia, aerial, e bambini) e richiamare chi ha partecipato per sapere se sono interessati.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Nel caso non ci fossero delle prove da chiamare controllare le presenze nelle liste per capire se ci sono persone che non stanno frequentando e inserire le nuove partecipazioni (persone iscritte da poco).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1 e 2°PIANO: chi è al primo o al secondo piano deve controllare le presenze ai corsi.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Controllare le email e rispondete a tutti (anche a email poco piacevoli) non mettete la bandierina senza rispondere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Rispondere ai messaggi di whatsapp del cell 2 (solo per le prenotazioni staff) firmando con il vostro nome.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Inserire i moduli e i certificati della sera prima e archiviarli negli appositi raccoglitori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In caso di necessità urgente (assenza insegnante, o altro avviso importante da fare subito) inviare sms ai corsisti.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Queste sono le cose che dovete fare giornalmente, poi c'è tutto il resto: preparazione schede partecipanti ai corsi, fare tessere Opes/Csen etc, controllare certificati medici e inviare avviso via email, controllare email tornate indietro se sono state inserite male, controllare quote scadute e inviare sms....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poi in base ai periodi ci sono altre cose da aggiungere tipo: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Teatro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22250" lvl="0" marL="1143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Campus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Workshop (in sede o fuori)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582075" y="9744225"/>
            <a:ext cx="6546600" cy="536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Verdana"/>
                <a:ea typeface="Verdana"/>
                <a:cs typeface="Verdana"/>
                <a:sym typeface="Verdana"/>
              </a:rPr>
              <a:t>Tutte le tabelle successive sono collegate direttamente al file </a:t>
            </a:r>
            <a:r>
              <a:rPr lang="it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Mansioni Team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914325" y="9292525"/>
            <a:ext cx="951600" cy="298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>
                <a:latin typeface="Nunito"/>
                <a:ea typeface="Nunito"/>
                <a:cs typeface="Nunito"/>
                <a:sym typeface="Nunito"/>
              </a:rPr>
              <a:t>Legenda:</a:t>
            </a:r>
            <a:endParaRPr b="1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1999725" y="9292525"/>
            <a:ext cx="2198700" cy="2985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Nunito"/>
                <a:ea typeface="Nunito"/>
                <a:cs typeface="Nunito"/>
                <a:sym typeface="Nunito"/>
              </a:rPr>
              <a:t>Attività quotidiane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3" name="Google Shape;303;p16"/>
          <p:cNvGraphicFramePr/>
          <p:nvPr/>
        </p:nvGraphicFramePr>
        <p:xfrm>
          <a:off x="315288" y="34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{CE748B5C-3FC9-4F24-9696-CF142D13AF51}</a:tableStyleId>
              </a:tblPr>
              <a:tblGrid>
                <a:gridCol w="3789300"/>
                <a:gridCol w="765800"/>
                <a:gridCol w="596750"/>
                <a:gridCol w="686275"/>
                <a:gridCol w="626575"/>
                <a:gridCol w="477375"/>
              </a:tblGrid>
              <a:tr h="39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team segreteria - Referenti per controllo e responsabili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b="1"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b="1"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b="1"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b="1"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b="1"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4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Affiancamento nuovo staff segreteria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Archiviazione ricevute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Pagamenti con Bonifici: controllo, ricevute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Pagamenti Online: controllo, ricevute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3"/>
                        </a:rPr>
                        <a:t>Referente del team segreteria con Ago e tecnici (utilizzare chat WA e Bacheca Trello)</a:t>
                      </a:r>
                      <a:endParaRPr sz="1000" u="sng">
                        <a:solidFill>
                          <a:schemeClr val="hlink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Cartoleria inventario e riordini (vedi link)</a:t>
                      </a:r>
                      <a:endParaRPr sz="1000" u="sng">
                        <a:solidFill>
                          <a:schemeClr val="hlink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5"/>
                        </a:rPr>
                        <a:t>Cassetta Primo Soccorso inventario e riordini</a:t>
                      </a:r>
                      <a:endParaRPr sz="1000" u="sng">
                        <a:solidFill>
                          <a:schemeClr val="hlink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Affitto sale, prenotazioni, pagamenti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volantini e manifesti pubblicitari.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espositori con documenti e regolamento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Corsi: Danza controllare tutte le schede di drive, sistemare tutti i dati mancanti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Corsi: Ballo di coppia controllare tutte le schede di drive, sistemare tutti i dati mancanti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Corsi: Bambini e Open controllare tutte le schede di drive, sistemare tutti i dati mancanti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Corsi: Fitness controllare tutte le schede di drive, sistemare tutti i dati mancanti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51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Corsi: Open e Aerial controllare tutte le schede di drive, sistemare tutti i dati mancanti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854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Domande di tesseramento, controllo su Athena e archiviazione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Email INFO@: rispondere mettendo in copia Elisa, inoltrare a Elisa quelle non relative ai corsi, lei le girerà a chi se ne deve occupare. Rispondere alle email che arrivano dal Bot inserendo Elisa in copia.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9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Email PRENOTAZIONE@: rispondere, smistare, correggere indirizzi sbagliati che tornano indietro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" name="Google Shape;308;p17"/>
          <p:cNvGraphicFramePr/>
          <p:nvPr/>
        </p:nvGraphicFramePr>
        <p:xfrm>
          <a:off x="365288" y="37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{CE748B5C-3FC9-4F24-9696-CF142D13AF51}</a:tableStyleId>
              </a:tblPr>
              <a:tblGrid>
                <a:gridCol w="3724275"/>
                <a:gridCol w="752475"/>
                <a:gridCol w="590550"/>
                <a:gridCol w="676275"/>
                <a:gridCol w="619125"/>
                <a:gridCol w="4667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File turni da stampare e consegnare ad Elisa a fine mese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Schede corsi, controllare chi non si è iscritto e fare le chiamate, ognuno nelle proprie categorie. Nel caso finisca prima, da una mano a chi ne ha bisogno.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Presenze e Prove: controllo di chi non viene da qualche lezione, chiamare per sapere come recuperarli, ognuno nelle proprie categorie. Nel caso finisca prima, da una mano a chi ne ha bisogno.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Presenze Insegnanti: segnare sul file i corsi e le private con le note se singole o di coppia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3"/>
                        </a:rPr>
                        <a:t>Quote scadute: avvisare con email e sms chi deve rinnovare</a:t>
                      </a:r>
                      <a:endParaRPr sz="1000" u="sng">
                        <a:solidFill>
                          <a:schemeClr val="hlink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Ricevute bianche: controllo, archiviazione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Spostamenti di corsi : sistemare le schede dei corsi e le partecipazioni su Athena, ognuno nelle proprie categorie. Nel caso finisca prima, da una mano a chi ne ha bisogno.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Tessere Enti</a:t>
                      </a:r>
                      <a:endParaRPr sz="1000" u="sng">
                        <a:solidFill>
                          <a:schemeClr val="hlink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Trello: controllare che tutti quotidianamente abbiano letto le info inserite, durante tutto il giorno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5"/>
                        </a:rPr>
                        <a:t>Prenotazioni, pagamenti Visite Mediche</a:t>
                      </a:r>
                      <a:endParaRPr sz="1000" u="sng">
                        <a:solidFill>
                          <a:schemeClr val="hlink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ESTEFANY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6"/>
                        </a:rPr>
                        <a:t>Rapporto con i medici</a:t>
                      </a:r>
                      <a:endParaRPr sz="1000" u="sng">
                        <a:solidFill>
                          <a:schemeClr val="hlink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ALEXANDRA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7"/>
                        </a:rPr>
                        <a:t>Certificati Medici, richiesta, controllo e invio email o sms per quelli che mancano o sono scaduti, registrazione e archiviazione.</a:t>
                      </a:r>
                      <a:endParaRPr sz="1000" u="sng">
                        <a:solidFill>
                          <a:schemeClr val="hlink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JOEL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Buoni, Gift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GIUDITTA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/>
          <p:nvPr/>
        </p:nvSpPr>
        <p:spPr>
          <a:xfrm>
            <a:off x="300490" y="833783"/>
            <a:ext cx="7066200" cy="749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Verdana"/>
                <a:ea typeface="Verdana"/>
                <a:cs typeface="Verdana"/>
                <a:sym typeface="Verdana"/>
              </a:rPr>
              <a:t>TEAM </a:t>
            </a:r>
            <a:r>
              <a:rPr b="1" lang="it">
                <a:latin typeface="Verdana"/>
                <a:ea typeface="Verdana"/>
                <a:cs typeface="Verdana"/>
                <a:sym typeface="Verdana"/>
              </a:rPr>
              <a:t>ASSISTENZA - MANUTENZIONE</a:t>
            </a:r>
            <a:endParaRPr b="1" i="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4" name="Google Shape;314;p18"/>
          <p:cNvSpPr txBox="1"/>
          <p:nvPr>
            <p:ph type="title"/>
          </p:nvPr>
        </p:nvSpPr>
        <p:spPr>
          <a:xfrm>
            <a:off x="1067025" y="1686075"/>
            <a:ext cx="6039000" cy="20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Quello che devono fare tutte le persone del team Assistenza e Manutenzione: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Immagine e cura della persona</a:t>
            </a:r>
            <a:r>
              <a:rPr b="0" lang="it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 Usare le divise Adidas. Rispetto e collaborazione tra di voi. Comunicazione interna attraverso Trello (scaricarlo anche sul cell per poter comunicare assenze, permessi, malattie, ecc.).</a:t>
            </a:r>
            <a:endParaRPr b="0"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0"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5" name="Google Shape;315;p18"/>
          <p:cNvSpPr txBox="1"/>
          <p:nvPr>
            <p:ph idx="1" type="body"/>
          </p:nvPr>
        </p:nvSpPr>
        <p:spPr>
          <a:xfrm>
            <a:off x="927350" y="3005727"/>
            <a:ext cx="5812500" cy="15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Tutti gli Studio (da 01 a 25) : controllo, assistenza e manutenzione ordinaria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Pulizie: controllo e assistenza</a:t>
            </a:r>
            <a:endParaRPr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it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Riordino immagine della scuola in generale (esempio: ombrelli, polvere, cestini, ecc)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1521894" y="5109196"/>
            <a:ext cx="4516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b="1" lang="it">
                <a:latin typeface="Verdana"/>
                <a:ea typeface="Verdana"/>
                <a:cs typeface="Verdana"/>
                <a:sym typeface="Verdana"/>
              </a:rPr>
              <a:t>DETTAGLI GENERICI RIGUARDO: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La mattinata si svolge così: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Arrivo alle ore 08:30 apertura porte, controllo sale se tutte le attrezzature sono in ordine, accensione televisori, recupero telefono cordless, accensione musica.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Guardare sempre Trello entro i 30 min dal vostro arrivo sul lavoro.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RECEPTION PIANO TERRA: 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1°PIANO: 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2°PIANO: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STUDIO1: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STUDIO2: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MAGAZZINO: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" name="Google Shape;321;p19"/>
          <p:cNvGraphicFramePr/>
          <p:nvPr/>
        </p:nvGraphicFramePr>
        <p:xfrm>
          <a:off x="685800" y="31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{CE748B5C-3FC9-4F24-9696-CF142D13AF51}</a:tableStyleId>
              </a:tblPr>
              <a:tblGrid>
                <a:gridCol w="3724275"/>
                <a:gridCol w="876300"/>
                <a:gridCol w="704850"/>
                <a:gridCol w="771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team assistenza e manutenzione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b="1"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b="1"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JASSIR</a:t>
                      </a:r>
                      <a:endParaRPr b="1"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Audio: controllo e assistenza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della pulizia giornaliera dei bagni e spogliatoi, riportare eventuali cose non fatte nel gruppo Pulizie SG su WA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della pulizia giornaliera delle sale e spazi comuni, riportare eventuali cose non fatte nel gruppo Pulizie SG su WA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e Pulizia giornaliera degli attrezzi Ginnici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Estintori, defibrillatore, carrello disabile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Inventario attrezzature sale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Inventario magazzini 1 e 2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Inventario Merchandising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Manutenzione e assistenza tecnica in generale (rete, computer, aria cond., centralino, tel, ecc)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Responsabile Controllo e informazioni condominiali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Riordino immagine della scuola in generale (esempio: ombrelli, polvere, cestini, ecc)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Tutti gli Studio (da 01 a 25) : controllo, assistenza e manutenzione ordinaria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e affissione pubblicità e locandine e TV a scuola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KEVIN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ZOILA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JASIR</a:t>
                      </a:r>
                      <a:endParaRPr sz="7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2" name="Google Shape;322;p19"/>
          <p:cNvSpPr txBox="1"/>
          <p:nvPr/>
        </p:nvSpPr>
        <p:spPr>
          <a:xfrm>
            <a:off x="582075" y="9744225"/>
            <a:ext cx="6546600" cy="5367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Verdana"/>
                <a:ea typeface="Verdana"/>
                <a:cs typeface="Verdana"/>
                <a:sym typeface="Verdana"/>
              </a:rPr>
              <a:t>Tutte le tabelle successive sono collegate direttamente al file </a:t>
            </a:r>
            <a:r>
              <a:rPr lang="it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Mansioni Team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/>
          <p:nvPr/>
        </p:nvSpPr>
        <p:spPr>
          <a:xfrm>
            <a:off x="508247" y="373075"/>
            <a:ext cx="6338400" cy="7491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Verdana"/>
                <a:ea typeface="Verdana"/>
                <a:cs typeface="Verdana"/>
                <a:sym typeface="Verdana"/>
              </a:rPr>
              <a:t>TEAM </a:t>
            </a:r>
            <a:r>
              <a:rPr lang="it" sz="1500">
                <a:latin typeface="Verdana"/>
                <a:ea typeface="Verdana"/>
                <a:cs typeface="Verdana"/>
                <a:sym typeface="Verdana"/>
              </a:rPr>
              <a:t>UFFICIO</a:t>
            </a:r>
            <a:endParaRPr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974149" y="1709035"/>
            <a:ext cx="58725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Verdana"/>
                <a:ea typeface="Verdana"/>
                <a:cs typeface="Verdana"/>
                <a:sym typeface="Verdana"/>
              </a:rPr>
              <a:t>Quello che devono fare tutte le persone del team Ufficio: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50">
                <a:latin typeface="Verdana"/>
                <a:ea typeface="Verdana"/>
                <a:cs typeface="Verdana"/>
                <a:sym typeface="Verdana"/>
              </a:rPr>
              <a:t>Immagine e cura della persona. Rispetto e collaborazione tra di voi. Comunicazione interna attraverso Trello (scaricarlo anche sul cell per poter comunicare assenze, permessi, malattie, ecc).</a:t>
            </a:r>
            <a:endParaRPr sz="20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29" name="Google Shape;329;p20"/>
          <p:cNvGraphicFramePr/>
          <p:nvPr/>
        </p:nvGraphicFramePr>
        <p:xfrm>
          <a:off x="582075" y="308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{CE748B5C-3FC9-4F24-9696-CF142D13AF51}</a:tableStyleId>
              </a:tblPr>
              <a:tblGrid>
                <a:gridCol w="2790825"/>
                <a:gridCol w="1076325"/>
                <a:gridCol w="1076325"/>
              </a:tblGrid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team ufficio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Supervisione del team comunicazione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SARA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Preventivo e vendita affitti sale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Gestione insegnanti STAFF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e affissione pubblicità e locandine a scuola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Grafica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Pubblicità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Email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Newsletter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Rapporto con Ago (riguardante le tue mansioni)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Vendite a cui far partecipare la scuola e vendita dei nostri insegnati a eventi esterni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Ricerca e selezione del personale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impianti audio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Verifica e addestrare il BOT sul sito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Google Shape;334;p21"/>
          <p:cNvGraphicFramePr/>
          <p:nvPr/>
        </p:nvGraphicFramePr>
        <p:xfrm>
          <a:off x="582075" y="35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{CE748B5C-3FC9-4F24-9696-CF142D13AF51}</a:tableStyleId>
              </a:tblPr>
              <a:tblGrid>
                <a:gridCol w="2790825"/>
                <a:gridCol w="1076325"/>
                <a:gridCol w="1076325"/>
              </a:tblGrid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Convenzioni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SARA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Gestione email office@ sul portatile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SARA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Contatti e relazioni con artisti e ospiti per workshop/stage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SARA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Gare e contest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SARA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Sponsor e collaborazioni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SARA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Merchandising ordini, allestimento esposizione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SARA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Sms: Eventi, Promo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SARA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Riordino e formazione TRELLO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SARA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" name="Google Shape;335;p21"/>
          <p:cNvSpPr txBox="1"/>
          <p:nvPr/>
        </p:nvSpPr>
        <p:spPr>
          <a:xfrm>
            <a:off x="582075" y="9744225"/>
            <a:ext cx="6546600" cy="536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Verdana"/>
                <a:ea typeface="Verdana"/>
                <a:cs typeface="Verdana"/>
                <a:sym typeface="Verdana"/>
              </a:rPr>
              <a:t>Tutte le tabelle successive sono collegate direttamente al file </a:t>
            </a:r>
            <a:r>
              <a:rPr lang="it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Mansioni Team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/>
          <p:nvPr/>
        </p:nvSpPr>
        <p:spPr>
          <a:xfrm>
            <a:off x="974102" y="833783"/>
            <a:ext cx="5053200" cy="749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Verdana"/>
                <a:ea typeface="Verdana"/>
                <a:cs typeface="Verdana"/>
                <a:sym typeface="Verdana"/>
              </a:rPr>
              <a:t>TEAM </a:t>
            </a:r>
            <a:r>
              <a:rPr b="1" lang="it" sz="1500">
                <a:latin typeface="Verdana"/>
                <a:ea typeface="Verdana"/>
                <a:cs typeface="Verdana"/>
                <a:sym typeface="Verdana"/>
              </a:rPr>
              <a:t>AMMINISTRAZIONE e DIREZIONE</a:t>
            </a:r>
            <a:endParaRPr b="1" i="0" sz="1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974149" y="1689985"/>
            <a:ext cx="5872500" cy="11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Verdana"/>
                <a:ea typeface="Verdana"/>
                <a:cs typeface="Verdana"/>
                <a:sym typeface="Verdana"/>
              </a:rPr>
              <a:t>Quello che devono fare tutte le persone del team Amministrazione e Direzione: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50">
                <a:latin typeface="Verdana"/>
                <a:ea typeface="Verdana"/>
                <a:cs typeface="Verdana"/>
                <a:sym typeface="Verdana"/>
              </a:rPr>
              <a:t>Immagine e cura della persona. Rispetto e collaborazione tra di voi. Comunicazione interna attraverso Trello (scaricarlo anche sul cell per poter comunicare assenze, permessi, malattie, ecc).</a:t>
            </a:r>
            <a:endParaRPr sz="20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42" name="Google Shape;342;p22"/>
          <p:cNvGraphicFramePr/>
          <p:nvPr/>
        </p:nvGraphicFramePr>
        <p:xfrm>
          <a:off x="497325" y="293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{CE748B5C-3FC9-4F24-9696-CF142D13AF51}</a:tableStyleId>
              </a:tblPr>
              <a:tblGrid>
                <a:gridCol w="2574850"/>
                <a:gridCol w="997625"/>
                <a:gridCol w="997625"/>
                <a:gridCol w="997625"/>
                <a:gridCol w="997625"/>
              </a:tblGrid>
              <a:tr h="33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team amministrazione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GAE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ELISA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STEFANO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Athena per contabilità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Merchandising, ordini e rapporto con Adidas e altre aziende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Amministrazione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Pagamenti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Fatture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di gestione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Contratti e ricevute Insegnanti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Enti di promozione e Federazioni : aggiornamenti su regole società sportive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Attestati e tesserini insegnanti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Consegna lettere d’incarico e tesserini insegnanti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SANTO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generale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ELISA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Gestione insegnanti STAFF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ELISA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Calendario attività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ELISA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Supervisione grafica e pubblicità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ELISA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Supervisione e preventivi richieste extra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ELISA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7" name="Google Shape;347;p23"/>
          <p:cNvGraphicFramePr/>
          <p:nvPr/>
        </p:nvGraphicFramePr>
        <p:xfrm>
          <a:off x="497325" y="19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{CE748B5C-3FC9-4F24-9696-CF142D13AF51}</a:tableStyleId>
              </a:tblPr>
              <a:tblGrid>
                <a:gridCol w="2574850"/>
                <a:gridCol w="997625"/>
                <a:gridCol w="997625"/>
                <a:gridCol w="997625"/>
                <a:gridCol w="997625"/>
              </a:tblGrid>
              <a:tr h="33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Inserire le Date di chiusura nel file collegato alle schede corso 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ELISA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generale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Parte tecnica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Parte Artistica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Comunicazione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Eventi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Serate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Controllo generale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ELISA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STEFANO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Serate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STEFANO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4"/>
          <p:cNvSpPr/>
          <p:nvPr/>
        </p:nvSpPr>
        <p:spPr>
          <a:xfrm>
            <a:off x="582081" y="354025"/>
            <a:ext cx="5826600" cy="749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Verdana"/>
                <a:ea typeface="Verdana"/>
                <a:cs typeface="Verdana"/>
                <a:sym typeface="Verdana"/>
              </a:rPr>
              <a:t>TEAM COMUNICAZIONE</a:t>
            </a:r>
            <a:endParaRPr i="0" sz="15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3" name="Google Shape;353;p24"/>
          <p:cNvSpPr txBox="1"/>
          <p:nvPr/>
        </p:nvSpPr>
        <p:spPr>
          <a:xfrm>
            <a:off x="1002724" y="1337560"/>
            <a:ext cx="58725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Verdana"/>
                <a:ea typeface="Verdana"/>
                <a:cs typeface="Verdana"/>
                <a:sym typeface="Verdana"/>
              </a:rPr>
              <a:t>Quello che devono fare tutte le persone del team Comunicazione: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50">
                <a:latin typeface="Verdana"/>
                <a:ea typeface="Verdana"/>
                <a:cs typeface="Verdana"/>
                <a:sym typeface="Verdana"/>
              </a:rPr>
              <a:t>Comunicazione interna attraverso le schede di Trello</a:t>
            </a:r>
            <a:endParaRPr sz="20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1076775" y="1986150"/>
            <a:ext cx="556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Verdana"/>
                <a:ea typeface="Verdana"/>
                <a:cs typeface="Verdana"/>
                <a:sym typeface="Verdana"/>
              </a:rPr>
              <a:t>Da parte vostra che gestite la nostra immagine sui social e sul sito, ci aspettiamo aggiornamenti sulle novità nel settore, proposte sull’immagine da adottare sempre moderna e attuale, innovazione sui servizi da proporre.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55" name="Google Shape;355;p24"/>
          <p:cNvGraphicFramePr/>
          <p:nvPr/>
        </p:nvGraphicFramePr>
        <p:xfrm>
          <a:off x="350975" y="3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{CE748B5C-3FC9-4F24-9696-CF142D13AF51}</a:tableStyleId>
              </a:tblPr>
              <a:tblGrid>
                <a:gridCol w="2865950"/>
                <a:gridCol w="794175"/>
                <a:gridCol w="794175"/>
                <a:gridCol w="908475"/>
                <a:gridCol w="679875"/>
                <a:gridCol w="794175"/>
              </a:tblGrid>
              <a:tr h="85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team comunicazione (collaboratori esterni, supervisione Massi e Sara)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AGO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FURIA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VALENTINA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YURI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SIMONE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CONTENUTI CHE RIGUARDANO LE ATTIVITÀ DI SG per IG - FB - YouTube - Linkedin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FURIA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Video per la vendita dei ws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FURIA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repost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FURIA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postare locandine e pubblicità per tutte le cose che facciamo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FURIA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creare contenuti per la promozione e vendita delle attività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FURIA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PARTE TECNICA sito, social, calendari, database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AGO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Campagne pubblicitarie a pagamento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AGO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Parte tecnica sito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AGO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Parte tecnica calendario corsi, schede corsi, data base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AGO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Parte tecnica e-commerce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/>
                        <a:t>AGO</a:t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0" name="Google Shape;360;p25"/>
          <p:cNvGraphicFramePr/>
          <p:nvPr/>
        </p:nvGraphicFramePr>
        <p:xfrm>
          <a:off x="341438" y="35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{CE748B5C-3FC9-4F24-9696-CF142D13AF51}</a:tableStyleId>
              </a:tblPr>
              <a:tblGrid>
                <a:gridCol w="2845150"/>
                <a:gridCol w="788425"/>
                <a:gridCol w="788425"/>
                <a:gridCol w="788425"/>
                <a:gridCol w="788425"/>
                <a:gridCol w="7884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VIDEO E FOTO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YURI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3"/>
                        </a:rPr>
                        <a:t>Aggiorna palinsesto TV (optisigne)</a:t>
                      </a:r>
                      <a:endParaRPr sz="1000" u="sng">
                        <a:solidFill>
                          <a:schemeClr val="hlink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YURI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Video e Foto degli Eventi/WS (riprende ed edita)</a:t>
                      </a:r>
                      <a:endParaRPr sz="1000" u="sng">
                        <a:solidFill>
                          <a:schemeClr val="hlink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YURI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CONTENUTI CHE RIGUARDANO I TREND 16 video al mese (sei autonoma il tuo riferimento sulle cose che facciamo sarà il nostro sito e plannig)</a:t>
                      </a:r>
                      <a:endParaRPr b="1"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VALENTINA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Tik Tok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VALENTINA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IG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VALENTINA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YouTube (da programmare)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VALENTINA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1" name="Google Shape;361;p25"/>
          <p:cNvSpPr txBox="1"/>
          <p:nvPr/>
        </p:nvSpPr>
        <p:spPr>
          <a:xfrm>
            <a:off x="582075" y="9744225"/>
            <a:ext cx="6546600" cy="5367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Verdana"/>
                <a:ea typeface="Verdana"/>
                <a:cs typeface="Verdana"/>
                <a:sym typeface="Verdana"/>
              </a:rPr>
              <a:t>Tutte le tabelle successive sono collegate direttamente al file </a:t>
            </a:r>
            <a:r>
              <a:rPr lang="it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Mansioni Team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